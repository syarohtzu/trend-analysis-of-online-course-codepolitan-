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74">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74"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e7d3c98a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1e7d3c98a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1e7d3c98a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1e7d3c98a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e7d3c98a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e7d3c98a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e7d3c98a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1e7d3c98a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e7d3c98a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1e7d3c98a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fe26036b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fe26036b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e7d3c98a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e7d3c98a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e7d3c98a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e7d3c98a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1fe26036b7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1fe26036b7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fe26036b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fe26036b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fe26036b7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1fe26036b7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5d422eb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5d422eb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5d422eb11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25d422eb11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5d422eb1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25d422eb1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fe26036b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1fe26036b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1fe26036b7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1fe26036b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fe26036b7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fe26036b7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fe26036b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fe26036b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1fe26036b7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1fe26036b7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fe26036b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fe26036b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1fe26036b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1fe26036b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fe26036b7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1fe26036b7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5d422eb1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25d422eb1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5d422eb1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25d422eb1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1fe26036b7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1fe26036b7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fe26036b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fe26036b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fe26036b7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1fe26036b7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1fe26036b7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1fe26036b7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fe26036b7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1fe26036b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fe26036b7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1fe26036b7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1fe26036b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1fe26036b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codepolitan.com/" TargetMode="External"/><Relationship Id="rId4" Type="http://schemas.openxmlformats.org/officeDocument/2006/relationships/hyperlink" Target="https://raw.githubusercontent.com/bagusbambang/datascienceproject/refs/heads/Project-5--Codepolitan-Trend-Analysis/df_categorical.csv" TargetMode="External"/><Relationship Id="rId5" Type="http://schemas.openxmlformats.org/officeDocument/2006/relationships/hyperlink" Target="https://raw.githubusercontent.com/bagusbambang/datascienceproject/refs/heads/Project-5--Codepolitan-Trend-Analysis/df_numeric.csv" TargetMode="External"/><Relationship Id="rId6" Type="http://schemas.openxmlformats.org/officeDocument/2006/relationships/hyperlink" Target="https://raw.githubusercontent.com/bagusbambang/datascienceproject/refs/heads/Project-5--Codepolitan-Trend-Analysis/df_codepolitan.csv"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d" sz="5100"/>
              <a:t>Codepolitan Trend Analysis</a:t>
            </a:r>
            <a:endParaRPr sz="51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d"/>
              <a:t>Kelompok 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Nama Anggota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id">
                <a:solidFill>
                  <a:schemeClr val="dk1"/>
                </a:solidFill>
              </a:rPr>
              <a:t>Ammik</a:t>
            </a:r>
            <a:endParaRPr>
              <a:solidFill>
                <a:schemeClr val="dk1"/>
              </a:solidFill>
            </a:endParaRPr>
          </a:p>
          <a:p>
            <a:pPr indent="-342900" lvl="0" marL="457200" rtl="0" algn="l">
              <a:spcBef>
                <a:spcPts val="0"/>
              </a:spcBef>
              <a:spcAft>
                <a:spcPts val="0"/>
              </a:spcAft>
              <a:buClr>
                <a:schemeClr val="dk1"/>
              </a:buClr>
              <a:buSzPts val="1800"/>
              <a:buAutoNum type="arabicPeriod"/>
            </a:pPr>
            <a:r>
              <a:rPr lang="id">
                <a:solidFill>
                  <a:schemeClr val="dk1"/>
                </a:solidFill>
              </a:rPr>
              <a:t>Bagus Bambang Syahputra</a:t>
            </a:r>
            <a:endParaRPr>
              <a:solidFill>
                <a:schemeClr val="dk1"/>
              </a:solidFill>
            </a:endParaRPr>
          </a:p>
          <a:p>
            <a:pPr indent="-342900" lvl="0" marL="457200" rtl="0" algn="l">
              <a:spcBef>
                <a:spcPts val="0"/>
              </a:spcBef>
              <a:spcAft>
                <a:spcPts val="0"/>
              </a:spcAft>
              <a:buClr>
                <a:schemeClr val="dk1"/>
              </a:buClr>
              <a:buSzPts val="1800"/>
              <a:buAutoNum type="arabicPeriod"/>
            </a:pPr>
            <a:r>
              <a:rPr lang="id">
                <a:solidFill>
                  <a:schemeClr val="dk1"/>
                </a:solidFill>
              </a:rPr>
              <a:t>Cornelia</a:t>
            </a:r>
            <a:endParaRPr>
              <a:solidFill>
                <a:schemeClr val="dk1"/>
              </a:solidFill>
            </a:endParaRPr>
          </a:p>
          <a:p>
            <a:pPr indent="-342900" lvl="0" marL="457200" rtl="0" algn="l">
              <a:spcBef>
                <a:spcPts val="0"/>
              </a:spcBef>
              <a:spcAft>
                <a:spcPts val="0"/>
              </a:spcAft>
              <a:buClr>
                <a:schemeClr val="dk1"/>
              </a:buClr>
              <a:buSzPts val="1800"/>
              <a:buAutoNum type="arabicPeriod"/>
            </a:pPr>
            <a:r>
              <a:rPr lang="id">
                <a:solidFill>
                  <a:schemeClr val="dk1"/>
                </a:solidFill>
              </a:rPr>
              <a:t>Ferdiansyah Rizki J</a:t>
            </a:r>
            <a:endParaRPr>
              <a:solidFill>
                <a:schemeClr val="dk1"/>
              </a:solidFill>
            </a:endParaRPr>
          </a:p>
          <a:p>
            <a:pPr indent="-342900" lvl="0" marL="457200" rtl="0" algn="l">
              <a:spcBef>
                <a:spcPts val="0"/>
              </a:spcBef>
              <a:spcAft>
                <a:spcPts val="0"/>
              </a:spcAft>
              <a:buClr>
                <a:schemeClr val="dk1"/>
              </a:buClr>
              <a:buSzPts val="1800"/>
              <a:buAutoNum type="arabicPeriod"/>
            </a:pPr>
            <a:r>
              <a:rPr lang="id">
                <a:solidFill>
                  <a:schemeClr val="dk1"/>
                </a:solidFill>
              </a:rPr>
              <a:t>Ummi Muyasaroh</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76950"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PENDAHULUAN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LATAR BELAKANG</a:t>
            </a:r>
            <a:endParaRPr/>
          </a:p>
        </p:txBody>
      </p:sp>
      <p:sp>
        <p:nvSpPr>
          <p:cNvPr id="72" name="Google Shape;72;p16"/>
          <p:cNvSpPr txBox="1"/>
          <p:nvPr/>
        </p:nvSpPr>
        <p:spPr>
          <a:xfrm>
            <a:off x="424100" y="1213450"/>
            <a:ext cx="81036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d"/>
              <a:t>Pernyataan Masalah: </a:t>
            </a:r>
            <a:endParaRPr b="1"/>
          </a:p>
          <a:p>
            <a:pPr indent="0" lvl="0" marL="0" rtl="0" algn="l">
              <a:spcBef>
                <a:spcPts val="0"/>
              </a:spcBef>
              <a:spcAft>
                <a:spcPts val="0"/>
              </a:spcAft>
              <a:buClr>
                <a:schemeClr val="dk1"/>
              </a:buClr>
              <a:buSzPts val="1100"/>
              <a:buFont typeface="Arial"/>
              <a:buNone/>
            </a:pPr>
            <a:r>
              <a:rPr lang="id"/>
              <a:t>Platform Codepolitan menghadapi kesulitan dalam mengidentifikasi kursus online yang diminati pengguna, sehingga mempengaruhi strategi pemasaran, pengembangan konten, dan peningkatan pengalaman pengguna. Kurangnya wawasan tentang preferensi pengguna menyebabkan kursus yang tidak tepat sasaran, kehilangan peluang pasar, dan penurunan kepuasan pengguna.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id"/>
              <a:t>Tujuan</a:t>
            </a:r>
            <a:r>
              <a:rPr b="1" lang="id"/>
              <a:t>:</a:t>
            </a:r>
            <a:endParaRPr b="1"/>
          </a:p>
          <a:p>
            <a:pPr indent="0" lvl="0" marL="0" rtl="0" algn="l">
              <a:spcBef>
                <a:spcPts val="0"/>
              </a:spcBef>
              <a:spcAft>
                <a:spcPts val="0"/>
              </a:spcAft>
              <a:buNone/>
            </a:pPr>
            <a:r>
              <a:rPr lang="id"/>
              <a:t>Menganalisa tren kursus online pada platform Codepolitan untuk mengidentifikasi dan memberikan wawasan mengenai kursus yang diminati pengguna. Wawasan ini akan didasarkan pada judul kursus, kategori level, jumlah modul, harga, dan rating, yang diharapkan dapat berguna untuk pengembangan bisnis kursus online platform Codepolitan.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165300" y="859425"/>
            <a:ext cx="8873400" cy="303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d" sz="1400">
                <a:solidFill>
                  <a:schemeClr val="dk1"/>
                </a:solidFill>
              </a:rPr>
              <a:t>Pertanyaan Analisis</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Kursus online apa yang banyak diminati?</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Berapa jumlah total kursus yang tersedia di platform?</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Berapa jumlah total kursus gratis (Rp.0,-) yang tersedia di platform?</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Kursus online apa yang mendapatkan lebih dari 500 ulasan?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Berapa level yang tersedia pada kursus?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Bagaimana distribusi level yang ada pada kursus?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Bagaimana distribusi rating kursus lebih dari 4.5?</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Bagaimana hubungan antara harga dengan rating?</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Bagaimana hubungan antara harga dengan jumlah peserta?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Bagaimana hubungan antara rating dengan jumlah peserta ?</a:t>
            </a:r>
            <a:endParaRPr sz="1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body"/>
          </p:nvPr>
        </p:nvSpPr>
        <p:spPr>
          <a:xfrm>
            <a:off x="78300" y="178325"/>
            <a:ext cx="9065700" cy="48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id" sz="1400">
                <a:solidFill>
                  <a:schemeClr val="dk1"/>
                </a:solidFill>
              </a:rPr>
              <a:t>Batasan Analisis</a:t>
            </a:r>
            <a:endParaRPr b="1" sz="1400">
              <a:solidFill>
                <a:schemeClr val="dk1"/>
              </a:solidFill>
            </a:endParaRPr>
          </a:p>
          <a:p>
            <a:pPr indent="-317500" lvl="0" marL="457200" rtl="0" algn="l">
              <a:spcBef>
                <a:spcPts val="1200"/>
              </a:spcBef>
              <a:spcAft>
                <a:spcPts val="0"/>
              </a:spcAft>
              <a:buClr>
                <a:schemeClr val="dk1"/>
              </a:buClr>
              <a:buSzPts val="1400"/>
              <a:buChar char="●"/>
            </a:pPr>
            <a:r>
              <a:rPr lang="id" sz="1400">
                <a:solidFill>
                  <a:schemeClr val="dk1"/>
                </a:solidFill>
              </a:rPr>
              <a:t>Hanya memuat informasi data yang diakses secara publik</a:t>
            </a:r>
            <a:endParaRPr sz="1400">
              <a:solidFill>
                <a:schemeClr val="dk1"/>
              </a:solidFill>
            </a:endParaRPr>
          </a:p>
          <a:p>
            <a:pPr indent="-317500" lvl="0" marL="457200" rtl="0" algn="l">
              <a:spcBef>
                <a:spcPts val="0"/>
              </a:spcBef>
              <a:spcAft>
                <a:spcPts val="0"/>
              </a:spcAft>
              <a:buClr>
                <a:schemeClr val="dk1"/>
              </a:buClr>
              <a:buSzPts val="1400"/>
              <a:buChar char="●"/>
            </a:pPr>
            <a:r>
              <a:rPr lang="id" sz="1400">
                <a:solidFill>
                  <a:schemeClr val="dk1"/>
                </a:solidFill>
              </a:rPr>
              <a:t>Informasi data yang </a:t>
            </a:r>
            <a:r>
              <a:rPr lang="id" sz="1400">
                <a:solidFill>
                  <a:schemeClr val="dk1"/>
                </a:solidFill>
              </a:rPr>
              <a:t>dianalisis</a:t>
            </a:r>
            <a:r>
              <a:rPr lang="id" sz="1400">
                <a:solidFill>
                  <a:schemeClr val="dk1"/>
                </a:solidFill>
              </a:rPr>
              <a:t> harus menunjukkan tren atau aktivitas pengguna</a:t>
            </a:r>
            <a:endParaRPr sz="1400">
              <a:solidFill>
                <a:schemeClr val="dk1"/>
              </a:solidFill>
            </a:endParaRPr>
          </a:p>
          <a:p>
            <a:pPr indent="-317500" lvl="0" marL="457200" rtl="0" algn="l">
              <a:spcBef>
                <a:spcPts val="0"/>
              </a:spcBef>
              <a:spcAft>
                <a:spcPts val="0"/>
              </a:spcAft>
              <a:buClr>
                <a:schemeClr val="dk1"/>
              </a:buClr>
              <a:buSzPts val="1400"/>
              <a:buChar char="●"/>
            </a:pPr>
            <a:r>
              <a:rPr lang="id" sz="1400">
                <a:solidFill>
                  <a:schemeClr val="dk1"/>
                </a:solidFill>
              </a:rPr>
              <a:t>Memuat data menggunakan API/JSON dengan kode status 200</a:t>
            </a:r>
            <a:endParaRPr sz="1400">
              <a:solidFill>
                <a:schemeClr val="dk1"/>
              </a:solidFill>
            </a:endParaRPr>
          </a:p>
          <a:p>
            <a:pPr indent="-317500" lvl="0" marL="457200" rtl="0" algn="l">
              <a:spcBef>
                <a:spcPts val="0"/>
              </a:spcBef>
              <a:spcAft>
                <a:spcPts val="0"/>
              </a:spcAft>
              <a:buClr>
                <a:schemeClr val="dk1"/>
              </a:buClr>
              <a:buSzPts val="1400"/>
              <a:buChar char="●"/>
            </a:pPr>
            <a:r>
              <a:rPr lang="id" sz="1400">
                <a:solidFill>
                  <a:schemeClr val="dk1"/>
                </a:solidFill>
              </a:rPr>
              <a:t>Tidak perlu login untuk mendapatkan informasi data</a:t>
            </a:r>
            <a:endParaRPr sz="1400">
              <a:solidFill>
                <a:schemeClr val="dk1"/>
              </a:solidFill>
            </a:endParaRPr>
          </a:p>
          <a:p>
            <a:pPr indent="-317500" lvl="0" marL="457200" rtl="0" algn="l">
              <a:spcBef>
                <a:spcPts val="0"/>
              </a:spcBef>
              <a:spcAft>
                <a:spcPts val="0"/>
              </a:spcAft>
              <a:buClr>
                <a:schemeClr val="dk1"/>
              </a:buClr>
              <a:buSzPts val="1400"/>
              <a:buChar char="●"/>
            </a:pPr>
            <a:r>
              <a:rPr lang="id" sz="1400">
                <a:solidFill>
                  <a:schemeClr val="dk1"/>
                </a:solidFill>
              </a:rPr>
              <a:t>Apabila terdapat harga yang ditampilkan yang mengharuskan pengguna login, maka data tidak akan dimuat</a:t>
            </a:r>
            <a:endParaRPr sz="1400">
              <a:solidFill>
                <a:schemeClr val="dk1"/>
              </a:solidFill>
            </a:endParaRPr>
          </a:p>
          <a:p>
            <a:pPr indent="-317500" lvl="0" marL="457200" rtl="0" algn="l">
              <a:spcBef>
                <a:spcPts val="0"/>
              </a:spcBef>
              <a:spcAft>
                <a:spcPts val="0"/>
              </a:spcAft>
              <a:buClr>
                <a:schemeClr val="dk1"/>
              </a:buClr>
              <a:buSzPts val="1400"/>
              <a:buChar char="●"/>
            </a:pPr>
            <a:r>
              <a:rPr lang="id" sz="1400">
                <a:solidFill>
                  <a:schemeClr val="dk1"/>
                </a:solidFill>
              </a:rPr>
              <a:t>Analisis hanya akan mencakup kursus yang ditampilkan sebagai data terbaru di platform. Jika terdapat label tidak tersedia atau tidak diperbarui, data akan dimuat pada tanggal publikasi yang terlihat paling akhir.</a:t>
            </a:r>
            <a:endParaRPr sz="1400">
              <a:solidFill>
                <a:schemeClr val="dk1"/>
              </a:solidFill>
            </a:endParaRPr>
          </a:p>
          <a:p>
            <a:pPr indent="-317500" lvl="0" marL="457200" rtl="0" algn="l">
              <a:spcBef>
                <a:spcPts val="0"/>
              </a:spcBef>
              <a:spcAft>
                <a:spcPts val="0"/>
              </a:spcAft>
              <a:buClr>
                <a:schemeClr val="dk1"/>
              </a:buClr>
              <a:buSzPts val="1400"/>
              <a:buChar char="●"/>
            </a:pPr>
            <a:r>
              <a:rPr lang="id" sz="1400">
                <a:solidFill>
                  <a:schemeClr val="dk1"/>
                </a:solidFill>
              </a:rPr>
              <a:t>Informasi data yang tidak lengkap akan diisi dengan nilai 0.</a:t>
            </a:r>
            <a:endParaRPr sz="14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idx="1" type="body"/>
          </p:nvPr>
        </p:nvSpPr>
        <p:spPr>
          <a:xfrm>
            <a:off x="89175" y="210950"/>
            <a:ext cx="8993100" cy="465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d" sz="1400">
                <a:solidFill>
                  <a:schemeClr val="dk1"/>
                </a:solidFill>
              </a:rPr>
              <a:t>Website Link</a:t>
            </a:r>
            <a:endParaRPr b="1" sz="1400">
              <a:solidFill>
                <a:schemeClr val="dk1"/>
              </a:solidFill>
            </a:endParaRPr>
          </a:p>
          <a:p>
            <a:pPr indent="0" lvl="0" marL="0" rtl="0" algn="l">
              <a:spcBef>
                <a:spcPts val="1200"/>
              </a:spcBef>
              <a:spcAft>
                <a:spcPts val="0"/>
              </a:spcAft>
              <a:buNone/>
            </a:pPr>
            <a:r>
              <a:rPr lang="id" sz="1400" u="sng">
                <a:solidFill>
                  <a:schemeClr val="accent5"/>
                </a:solidFill>
                <a:hlinkClick r:id="rId3">
                  <a:extLst>
                    <a:ext uri="{A12FA001-AC4F-418D-AE19-62706E023703}">
                      <ahyp:hlinkClr val="tx"/>
                    </a:ext>
                  </a:extLst>
                </a:hlinkClick>
              </a:rPr>
              <a:t>https://www.codepolitan.com/</a:t>
            </a:r>
            <a:r>
              <a:rPr lang="id" sz="1400"/>
              <a:t> </a:t>
            </a:r>
            <a:endParaRPr sz="1400"/>
          </a:p>
          <a:p>
            <a:pPr indent="0" lvl="0" marL="0" rtl="0" algn="l">
              <a:spcBef>
                <a:spcPts val="1200"/>
              </a:spcBef>
              <a:spcAft>
                <a:spcPts val="0"/>
              </a:spcAft>
              <a:buClr>
                <a:schemeClr val="dk1"/>
              </a:buClr>
              <a:buSzPts val="1100"/>
              <a:buFont typeface="Arial"/>
              <a:buNone/>
            </a:pPr>
            <a:r>
              <a:t/>
            </a:r>
            <a:endParaRPr sz="1400"/>
          </a:p>
          <a:p>
            <a:pPr indent="0" lvl="0" marL="0" rtl="0" algn="l">
              <a:spcBef>
                <a:spcPts val="1200"/>
              </a:spcBef>
              <a:spcAft>
                <a:spcPts val="0"/>
              </a:spcAft>
              <a:buClr>
                <a:schemeClr val="dk1"/>
              </a:buClr>
              <a:buSzPts val="1100"/>
              <a:buFont typeface="Arial"/>
              <a:buNone/>
            </a:pPr>
            <a:r>
              <a:rPr b="1" lang="id" sz="1400">
                <a:solidFill>
                  <a:schemeClr val="dk1"/>
                </a:solidFill>
              </a:rPr>
              <a:t>Data access link</a:t>
            </a:r>
            <a:endParaRPr b="1" sz="1400">
              <a:solidFill>
                <a:schemeClr val="dk1"/>
              </a:solidFill>
            </a:endParaRPr>
          </a:p>
          <a:p>
            <a:pPr indent="0" lvl="0" marL="0" rtl="0" algn="l">
              <a:spcBef>
                <a:spcPts val="1200"/>
              </a:spcBef>
              <a:spcAft>
                <a:spcPts val="0"/>
              </a:spcAft>
              <a:buClr>
                <a:schemeClr val="dk1"/>
              </a:buClr>
              <a:buSzPts val="1100"/>
              <a:buFont typeface="Arial"/>
              <a:buNone/>
            </a:pPr>
            <a:r>
              <a:rPr lang="id" sz="1400">
                <a:solidFill>
                  <a:schemeClr val="dk1"/>
                </a:solidFill>
              </a:rPr>
              <a:t>Data categorical→ </a:t>
            </a:r>
            <a:r>
              <a:rPr lang="id" sz="1400" u="sng">
                <a:solidFill>
                  <a:schemeClr val="accent5"/>
                </a:solidFill>
                <a:hlinkClick r:id="rId4">
                  <a:extLst>
                    <a:ext uri="{A12FA001-AC4F-418D-AE19-62706E023703}">
                      <ahyp:hlinkClr val="tx"/>
                    </a:ext>
                  </a:extLst>
                </a:hlinkClick>
              </a:rPr>
              <a:t>https://raw.githubusercontent.com/bagusbambang/datascienceproject/refs/heads/Project-5--Codepolitan-Trend-Analysis/df_categorical.csv</a:t>
            </a:r>
            <a:r>
              <a:rPr lang="id" sz="1400"/>
              <a:t> </a:t>
            </a:r>
            <a:endParaRPr sz="1400"/>
          </a:p>
          <a:p>
            <a:pPr indent="0" lvl="0" marL="0" rtl="0" algn="l">
              <a:spcBef>
                <a:spcPts val="1200"/>
              </a:spcBef>
              <a:spcAft>
                <a:spcPts val="0"/>
              </a:spcAft>
              <a:buClr>
                <a:schemeClr val="dk1"/>
              </a:buClr>
              <a:buSzPts val="1100"/>
              <a:buFont typeface="Arial"/>
              <a:buNone/>
            </a:pPr>
            <a:r>
              <a:rPr lang="id" sz="1400">
                <a:solidFill>
                  <a:schemeClr val="dk1"/>
                </a:solidFill>
              </a:rPr>
              <a:t>Data numerical → </a:t>
            </a:r>
            <a:r>
              <a:rPr lang="id" sz="1400" u="sng">
                <a:solidFill>
                  <a:schemeClr val="accent5"/>
                </a:solidFill>
                <a:hlinkClick r:id="rId5">
                  <a:extLst>
                    <a:ext uri="{A12FA001-AC4F-418D-AE19-62706E023703}">
                      <ahyp:hlinkClr val="tx"/>
                    </a:ext>
                  </a:extLst>
                </a:hlinkClick>
              </a:rPr>
              <a:t>https://raw.githubusercontent.com/bagusbambang/datascienceproject/refs/heads/Project-5--Codepolitan-Trend-Analysis/df_numeric.csv</a:t>
            </a:r>
            <a:r>
              <a:rPr lang="id" sz="1400"/>
              <a:t> </a:t>
            </a:r>
            <a:endParaRPr sz="1400"/>
          </a:p>
          <a:p>
            <a:pPr indent="0" lvl="0" marL="0" rtl="0" algn="l">
              <a:spcBef>
                <a:spcPts val="1200"/>
              </a:spcBef>
              <a:spcAft>
                <a:spcPts val="0"/>
              </a:spcAft>
              <a:buClr>
                <a:schemeClr val="dk1"/>
              </a:buClr>
              <a:buSzPts val="1100"/>
              <a:buFont typeface="Arial"/>
              <a:buNone/>
            </a:pPr>
            <a:r>
              <a:rPr lang="id" sz="1400">
                <a:solidFill>
                  <a:schemeClr val="dk1"/>
                </a:solidFill>
              </a:rPr>
              <a:t>Dataset → </a:t>
            </a:r>
            <a:r>
              <a:rPr lang="id" sz="1400" u="sng">
                <a:solidFill>
                  <a:schemeClr val="accent5"/>
                </a:solidFill>
                <a:hlinkClick r:id="rId6">
                  <a:extLst>
                    <a:ext uri="{A12FA001-AC4F-418D-AE19-62706E023703}">
                      <ahyp:hlinkClr val="tx"/>
                    </a:ext>
                  </a:extLst>
                </a:hlinkClick>
              </a:rPr>
              <a:t>https://raw.githubusercontent.com/bagusbambang/datascienceproject/refs/heads/Project-5--Codepolitan-Trend-Analysis/df_codepolitan.csv</a:t>
            </a:r>
            <a:r>
              <a:rPr lang="id" sz="1400"/>
              <a:t> </a:t>
            </a:r>
            <a:endParaRPr sz="1400"/>
          </a:p>
          <a:p>
            <a:pPr indent="0" lvl="0" marL="0" rtl="0" algn="l">
              <a:spcBef>
                <a:spcPts val="1200"/>
              </a:spcBef>
              <a:spcAft>
                <a:spcPts val="1200"/>
              </a:spcAft>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ALUR KERJA</a:t>
            </a:r>
            <a:endParaRPr/>
          </a:p>
        </p:txBody>
      </p:sp>
      <p:pic>
        <p:nvPicPr>
          <p:cNvPr id="93" name="Google Shape;93;p20"/>
          <p:cNvPicPr preferRelativeResize="0"/>
          <p:nvPr/>
        </p:nvPicPr>
        <p:blipFill>
          <a:blip r:embed="rId3">
            <a:alphaModFix/>
          </a:blip>
          <a:stretch>
            <a:fillRect/>
          </a:stretch>
        </p:blipFill>
        <p:spPr>
          <a:xfrm>
            <a:off x="972025" y="2665050"/>
            <a:ext cx="8763000" cy="2009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type="title"/>
          </p:nvPr>
        </p:nvSpPr>
        <p:spPr>
          <a:xfrm>
            <a:off x="376950"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HASIL ANALISA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0" y="772125"/>
            <a:ext cx="4500600" cy="379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400">
                <a:solidFill>
                  <a:schemeClr val="dk1"/>
                </a:solidFill>
              </a:rPr>
              <a:t>Pada hasil statistik deskriptif tersebut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Total Module yang tersedia ada 250 kursus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Rata-rata waktu kursus per modul adalah 4 jam 2 menit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Rata-rata harga kursus sebelum diskon adalah Rp.204.360,-</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Rata-rata harga kursus setelah diskon adalah Rp.195.940,-</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Rata-rata harga sewa kursus adalah Rp.57.400,-</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Total siswa terbanyak pada suatu kursus adalah 5991 siswa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Rata-rata peringkat kursus adalah 4,68 menunjukkan bahwa kualitas kursus cukup baik</a:t>
            </a:r>
            <a:endParaRPr sz="1400">
              <a:solidFill>
                <a:schemeClr val="dk1"/>
              </a:solidFill>
            </a:endParaRPr>
          </a:p>
        </p:txBody>
      </p:sp>
      <p:pic>
        <p:nvPicPr>
          <p:cNvPr id="104" name="Google Shape;104;p22"/>
          <p:cNvPicPr preferRelativeResize="0"/>
          <p:nvPr/>
        </p:nvPicPr>
        <p:blipFill>
          <a:blip r:embed="rId3">
            <a:alphaModFix/>
          </a:blip>
          <a:stretch>
            <a:fillRect/>
          </a:stretch>
        </p:blipFill>
        <p:spPr>
          <a:xfrm>
            <a:off x="152400" y="772125"/>
            <a:ext cx="4267200" cy="35992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400">
                <a:solidFill>
                  <a:schemeClr val="dk1"/>
                </a:solidFill>
              </a:rPr>
              <a:t>Pada distribusi harga normal sebelum diskon dapat dilihat bahwa pada harga Rp.150.000,- merupakan kursus yang paling banyak dengan harga tersebut.</a:t>
            </a:r>
            <a:endParaRPr sz="1400">
              <a:solidFill>
                <a:schemeClr val="dk1"/>
              </a:solidFill>
            </a:endParaRPr>
          </a:p>
          <a:p>
            <a:pPr indent="0" lvl="0" marL="0" rtl="0" algn="l">
              <a:spcBef>
                <a:spcPts val="1200"/>
              </a:spcBef>
              <a:spcAft>
                <a:spcPts val="1200"/>
              </a:spcAft>
              <a:buNone/>
            </a:pPr>
            <a:r>
              <a:rPr lang="id" sz="1400">
                <a:solidFill>
                  <a:schemeClr val="dk1"/>
                </a:solidFill>
              </a:rPr>
              <a:t>Distribusi data cenderung miring ke kanan (positively skewed). Artinya, terdapat lebih banyak data dengan nilai yang lebih rendah dibandingkan dengan nilai yang lebih tinggi. Hal ini mengindikasikan adanya beberapa harga yang sangat tinggi yang mempengaruhi bentuk distribusi secara keseluruhan.</a:t>
            </a:r>
            <a:endParaRPr sz="1400">
              <a:solidFill>
                <a:schemeClr val="dk1"/>
              </a:solidFill>
            </a:endParaRPr>
          </a:p>
        </p:txBody>
      </p:sp>
      <p:pic>
        <p:nvPicPr>
          <p:cNvPr id="110" name="Google Shape;110;p23"/>
          <p:cNvPicPr preferRelativeResize="0"/>
          <p:nvPr/>
        </p:nvPicPr>
        <p:blipFill>
          <a:blip r:embed="rId3">
            <a:alphaModFix/>
          </a:blip>
          <a:stretch>
            <a:fillRect/>
          </a:stretch>
        </p:blipFill>
        <p:spPr>
          <a:xfrm>
            <a:off x="98275" y="870250"/>
            <a:ext cx="4267200" cy="3678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txBox="1"/>
          <p:nvPr>
            <p:ph idx="1" type="body"/>
          </p:nvPr>
        </p:nvSpPr>
        <p:spPr>
          <a:xfrm>
            <a:off x="4267200" y="58450"/>
            <a:ext cx="4773000" cy="4805700"/>
          </a:xfrm>
          <a:prstGeom prst="rect">
            <a:avLst/>
          </a:prstGeom>
        </p:spPr>
        <p:txBody>
          <a:bodyPr anchorCtr="0" anchor="t" bIns="91425" lIns="91425" spcFirstLastPara="1" rIns="91425" wrap="square" tIns="91425">
            <a:noAutofit/>
          </a:bodyPr>
          <a:lstStyle/>
          <a:p>
            <a:pPr indent="0" lvl="0" marL="89999" marR="13550" rtl="0" algn="l">
              <a:spcBef>
                <a:spcPts val="0"/>
              </a:spcBef>
              <a:spcAft>
                <a:spcPts val="0"/>
              </a:spcAft>
              <a:buNone/>
            </a:pPr>
            <a:r>
              <a:rPr lang="id" sz="1400">
                <a:solidFill>
                  <a:schemeClr val="dk1"/>
                </a:solidFill>
              </a:rPr>
              <a:t>Pada korelasi tersebut dapat dilihat bahwa:</a:t>
            </a:r>
            <a:endParaRPr sz="1400">
              <a:solidFill>
                <a:schemeClr val="dk1"/>
              </a:solidFill>
            </a:endParaRPr>
          </a:p>
          <a:p>
            <a:pPr indent="-88900" lvl="0" marL="89999" marR="13550" rtl="0" algn="just">
              <a:spcBef>
                <a:spcPts val="1200"/>
              </a:spcBef>
              <a:spcAft>
                <a:spcPts val="0"/>
              </a:spcAft>
              <a:buClr>
                <a:schemeClr val="dk1"/>
              </a:buClr>
              <a:buSzPts val="1400"/>
              <a:buAutoNum type="arabicPeriod"/>
            </a:pPr>
            <a:r>
              <a:rPr lang="id" sz="1400">
                <a:solidFill>
                  <a:schemeClr val="dk1"/>
                </a:solidFill>
              </a:rPr>
              <a:t>Variabel normal_price, retail_price, rent_price, </a:t>
            </a:r>
            <a:r>
              <a:rPr lang="id" sz="1400">
                <a:solidFill>
                  <a:schemeClr val="dk1"/>
                </a:solidFill>
              </a:rPr>
              <a:t>total_module, total_time, total, dan total_student </a:t>
            </a:r>
            <a:r>
              <a:rPr lang="id" sz="1400">
                <a:solidFill>
                  <a:schemeClr val="dk1"/>
                </a:solidFill>
              </a:rPr>
              <a:t>memiliki korelasi positif yang sangat kuat satu sama lain. Ini menunjukkan bahwa variabel ini cenderung bergerak bersamaan dan saling mempengaruhi.</a:t>
            </a:r>
            <a:endParaRPr sz="1400">
              <a:solidFill>
                <a:schemeClr val="dk1"/>
              </a:solidFill>
            </a:endParaRPr>
          </a:p>
          <a:p>
            <a:pPr indent="-88900" lvl="0" marL="89999" marR="13550" rtl="0" algn="just">
              <a:spcBef>
                <a:spcPts val="0"/>
              </a:spcBef>
              <a:spcAft>
                <a:spcPts val="0"/>
              </a:spcAft>
              <a:buClr>
                <a:schemeClr val="dk1"/>
              </a:buClr>
              <a:buSzPts val="1400"/>
              <a:buAutoNum type="arabicPeriod"/>
            </a:pPr>
            <a:r>
              <a:rPr lang="id" sz="1400">
                <a:solidFill>
                  <a:schemeClr val="dk1"/>
                </a:solidFill>
              </a:rPr>
              <a:t>Variabel total_rating dan total_feedback memiliki korelasi positif yang cukup kuat dengan total_student. Ini mengindikasikan bahwa semakin banyak siswa, maka semakin banyak rating dan feedback yang diberikan.</a:t>
            </a:r>
            <a:endParaRPr sz="1400">
              <a:solidFill>
                <a:schemeClr val="dk1"/>
              </a:solidFill>
            </a:endParaRPr>
          </a:p>
          <a:p>
            <a:pPr indent="-88900" lvl="0" marL="89999" marR="13550" rtl="0" algn="just">
              <a:spcBef>
                <a:spcPts val="0"/>
              </a:spcBef>
              <a:spcAft>
                <a:spcPts val="0"/>
              </a:spcAft>
              <a:buClr>
                <a:schemeClr val="dk1"/>
              </a:buClr>
              <a:buSzPts val="1400"/>
              <a:buAutoNum type="arabicPeriod"/>
            </a:pPr>
            <a:r>
              <a:rPr lang="id" sz="1400">
                <a:solidFill>
                  <a:schemeClr val="dk1"/>
                </a:solidFill>
              </a:rPr>
              <a:t>Variabel normal_price dan retail_price memiliki korelasi positif yang sangat kuat dengan total_module. Ini menunjukkan bahwa harga dan module yang tersedia saling mempengaruhi. Semakin banyak module maka semakin tinggi harga-nya.</a:t>
            </a:r>
            <a:endParaRPr sz="1400">
              <a:solidFill>
                <a:schemeClr val="dk1"/>
              </a:solidFill>
            </a:endParaRPr>
          </a:p>
          <a:p>
            <a:pPr indent="-88900" lvl="0" marL="89999" marR="13550" rtl="0" algn="just">
              <a:spcBef>
                <a:spcPts val="0"/>
              </a:spcBef>
              <a:spcAft>
                <a:spcPts val="0"/>
              </a:spcAft>
              <a:buClr>
                <a:schemeClr val="dk1"/>
              </a:buClr>
              <a:buSzPts val="1400"/>
              <a:buAutoNum type="arabicPeriod"/>
            </a:pPr>
            <a:r>
              <a:rPr lang="id" sz="1400">
                <a:solidFill>
                  <a:schemeClr val="dk1"/>
                </a:solidFill>
              </a:rPr>
              <a:t>Terdapat beberapa korelasi negatif yang lemah antara beberapa variabel, namun tidak terlalu signifikan.</a:t>
            </a:r>
            <a:endParaRPr sz="1400">
              <a:solidFill>
                <a:schemeClr val="dk1"/>
              </a:solidFill>
            </a:endParaRPr>
          </a:p>
          <a:p>
            <a:pPr indent="0" lvl="0" marL="89999" marR="13550" rtl="0" algn="l">
              <a:spcBef>
                <a:spcPts val="1200"/>
              </a:spcBef>
              <a:spcAft>
                <a:spcPts val="1200"/>
              </a:spcAft>
              <a:buNone/>
            </a:pPr>
            <a:r>
              <a:t/>
            </a:r>
            <a:endParaRPr sz="1400">
              <a:solidFill>
                <a:schemeClr val="dk1"/>
              </a:solidFill>
            </a:endParaRPr>
          </a:p>
        </p:txBody>
      </p:sp>
      <p:pic>
        <p:nvPicPr>
          <p:cNvPr id="116" name="Google Shape;116;p24"/>
          <p:cNvPicPr preferRelativeResize="0"/>
          <p:nvPr/>
        </p:nvPicPr>
        <p:blipFill>
          <a:blip r:embed="rId3">
            <a:alphaModFix/>
          </a:blip>
          <a:stretch>
            <a:fillRect/>
          </a:stretch>
        </p:blipFill>
        <p:spPr>
          <a:xfrm>
            <a:off x="0" y="274925"/>
            <a:ext cx="4267200" cy="4134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5"/>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d" sz="1400">
                <a:solidFill>
                  <a:schemeClr val="dk1"/>
                </a:solidFill>
              </a:rPr>
              <a:t>Pada visualisasi tersebut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Garis tren memiliki kemiringan negatif, yang menunjukkan adanya korelasi negatif antara jumlah siswa dan harga kursus. Artinya, semakin tinggi harga suatu kursus, cenderung semakin sedikit jumlah siswa yang mendaftar.</a:t>
            </a:r>
            <a:endParaRPr sz="1400">
              <a:solidFill>
                <a:schemeClr val="dk1"/>
              </a:solidFill>
            </a:endParaRPr>
          </a:p>
          <a:p>
            <a:pPr indent="0" lvl="0" marL="457200" rtl="0" algn="l">
              <a:spcBef>
                <a:spcPts val="1200"/>
              </a:spcBef>
              <a:spcAft>
                <a:spcPts val="0"/>
              </a:spcAft>
              <a:buNone/>
            </a:pPr>
            <a:r>
              <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Harga tampaknya memiliki pengaruh yang cukup signifikan terhadap jumlah siswa yang mendaftar. Semakin mahal suatu kursus, minat peserta untuk mendaftar cenderung menurun.</a:t>
            </a:r>
            <a:endParaRPr/>
          </a:p>
        </p:txBody>
      </p:sp>
      <p:pic>
        <p:nvPicPr>
          <p:cNvPr id="122" name="Google Shape;122;p25"/>
          <p:cNvPicPr preferRelativeResize="0"/>
          <p:nvPr/>
        </p:nvPicPr>
        <p:blipFill>
          <a:blip r:embed="rId3">
            <a:alphaModFix/>
          </a:blip>
          <a:stretch>
            <a:fillRect/>
          </a:stretch>
        </p:blipFill>
        <p:spPr>
          <a:xfrm>
            <a:off x="119775" y="1392050"/>
            <a:ext cx="4267200" cy="26645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6"/>
          <p:cNvSpPr txBox="1"/>
          <p:nvPr>
            <p:ph idx="1" type="body"/>
          </p:nvPr>
        </p:nvSpPr>
        <p:spPr>
          <a:xfrm>
            <a:off x="4572000" y="254450"/>
            <a:ext cx="4260300" cy="431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2"/>
              <a:buNone/>
            </a:pPr>
            <a:r>
              <a:rPr lang="id" sz="1400">
                <a:solidFill>
                  <a:schemeClr val="dk1"/>
                </a:solidFill>
              </a:rPr>
              <a:t>Pada visualisasi data tersebut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T</a:t>
            </a:r>
            <a:r>
              <a:rPr lang="id" sz="1400">
                <a:solidFill>
                  <a:schemeClr val="dk1"/>
                </a:solidFill>
              </a:rPr>
              <a:t>erdapat variasi yang sangat signifikan dalam jumlah peserta yang terdaftar pada setiap kursus. Hal ini menunjukkan bahwa minat peserta terhadap setiap kursus sangat berbeda-beda.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Beberapa kursus memiliki jumlah peserta yang jauh lebih banyak dibandingkan dengan kursus lainnya. Ini mengindikasikan bahwa kursus-kursus tersebut lebih populer dan diminati oleh peserta.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Kursus dengan judul ‘Belajar </a:t>
            </a:r>
            <a:r>
              <a:rPr lang="id" sz="1400">
                <a:solidFill>
                  <a:schemeClr val="dk1"/>
                </a:solidFill>
              </a:rPr>
              <a:t>Pemrograman</a:t>
            </a:r>
            <a:r>
              <a:rPr lang="id" sz="1400">
                <a:solidFill>
                  <a:schemeClr val="dk1"/>
                </a:solidFill>
              </a:rPr>
              <a:t> PHP’ memiliki siswa terbanyak, diikuti oleh judul ‘Membangun Website Toko Online Berbasis Codelgniter 3’ dan ‘Menguasai Framework Codelgniter 3’.</a:t>
            </a:r>
            <a:endParaRPr sz="1400">
              <a:solidFill>
                <a:schemeClr val="dk1"/>
              </a:solidFill>
            </a:endParaRPr>
          </a:p>
        </p:txBody>
      </p:sp>
      <p:pic>
        <p:nvPicPr>
          <p:cNvPr id="128" name="Google Shape;128;p26"/>
          <p:cNvPicPr preferRelativeResize="0"/>
          <p:nvPr/>
        </p:nvPicPr>
        <p:blipFill>
          <a:blip r:embed="rId3">
            <a:alphaModFix/>
          </a:blip>
          <a:stretch>
            <a:fillRect/>
          </a:stretch>
        </p:blipFill>
        <p:spPr>
          <a:xfrm>
            <a:off x="54550" y="180550"/>
            <a:ext cx="4260301" cy="47938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7"/>
          <p:cNvSpPr txBox="1"/>
          <p:nvPr>
            <p:ph idx="1" type="body"/>
          </p:nvPr>
        </p:nvSpPr>
        <p:spPr>
          <a:xfrm>
            <a:off x="5297925" y="254450"/>
            <a:ext cx="3534300" cy="43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sz="1300">
                <a:solidFill>
                  <a:schemeClr val="dk1"/>
                </a:solidFill>
              </a:rPr>
              <a:t>Pada visualisasi tersebut dapat dilihat bahwa:</a:t>
            </a:r>
            <a:endParaRPr sz="1300">
              <a:solidFill>
                <a:schemeClr val="dk1"/>
              </a:solidFill>
            </a:endParaRPr>
          </a:p>
          <a:p>
            <a:pPr indent="-311150" lvl="0" marL="457200" rtl="0" algn="l">
              <a:spcBef>
                <a:spcPts val="1200"/>
              </a:spcBef>
              <a:spcAft>
                <a:spcPts val="0"/>
              </a:spcAft>
              <a:buClr>
                <a:schemeClr val="dk1"/>
              </a:buClr>
              <a:buSzPts val="1300"/>
              <a:buAutoNum type="arabicPeriod"/>
            </a:pPr>
            <a:r>
              <a:rPr lang="id" sz="1300">
                <a:solidFill>
                  <a:schemeClr val="dk1"/>
                </a:solidFill>
              </a:rPr>
              <a:t>Terdapat variasi yang sangat signifikan dalam jumlah </a:t>
            </a:r>
            <a:r>
              <a:rPr i="1" lang="id" sz="1300">
                <a:solidFill>
                  <a:schemeClr val="dk1"/>
                </a:solidFill>
              </a:rPr>
              <a:t>feedback</a:t>
            </a:r>
            <a:r>
              <a:rPr lang="id" sz="1300">
                <a:solidFill>
                  <a:schemeClr val="dk1"/>
                </a:solidFill>
              </a:rPr>
              <a:t> yang diterima oleh setiap kursus. Hal ini menunjukkan bahwa tingkat kepuasan peserta terhadap setiap kursus sangat berbeda-beda.</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id" sz="1300">
                <a:solidFill>
                  <a:schemeClr val="dk1"/>
                </a:solidFill>
              </a:rPr>
              <a:t>Beberapa kursus memiliki jumlah </a:t>
            </a:r>
            <a:r>
              <a:rPr i="1" lang="id" sz="1300">
                <a:solidFill>
                  <a:schemeClr val="dk1"/>
                </a:solidFill>
              </a:rPr>
              <a:t>feedback</a:t>
            </a:r>
            <a:r>
              <a:rPr lang="id" sz="1300">
                <a:solidFill>
                  <a:schemeClr val="dk1"/>
                </a:solidFill>
              </a:rPr>
              <a:t> yang jauh lebih banyak dibandingkan dengan kursus lainnya. Ini mengindikasikan bahwa kursus tersebut lebih populer dan diminati oleh peserta.</a:t>
            </a:r>
            <a:endParaRPr sz="1300">
              <a:solidFill>
                <a:schemeClr val="dk1"/>
              </a:solidFill>
            </a:endParaRPr>
          </a:p>
          <a:p>
            <a:pPr indent="-311150" lvl="0" marL="457200" rtl="0" algn="l">
              <a:spcBef>
                <a:spcPts val="0"/>
              </a:spcBef>
              <a:spcAft>
                <a:spcPts val="0"/>
              </a:spcAft>
              <a:buClr>
                <a:schemeClr val="dk1"/>
              </a:buClr>
              <a:buSzPts val="1300"/>
              <a:buAutoNum type="arabicPeriod"/>
            </a:pPr>
            <a:r>
              <a:rPr lang="id" sz="1300">
                <a:solidFill>
                  <a:schemeClr val="dk1"/>
                </a:solidFill>
              </a:rPr>
              <a:t>Kursus dengan judul ‘Belajar Dasar HTML’ mendapatkan feedback terbanyak, diikuti dengan kursus ‘Belajar Dasar CSS’ dan ‘Belajar Pemrogaman PHP’</a:t>
            </a:r>
            <a:endParaRPr sz="1300">
              <a:solidFill>
                <a:schemeClr val="dk1"/>
              </a:solidFill>
            </a:endParaRPr>
          </a:p>
        </p:txBody>
      </p:sp>
      <p:pic>
        <p:nvPicPr>
          <p:cNvPr id="134" name="Google Shape;134;p27"/>
          <p:cNvPicPr preferRelativeResize="0"/>
          <p:nvPr/>
        </p:nvPicPr>
        <p:blipFill>
          <a:blip r:embed="rId3">
            <a:alphaModFix/>
          </a:blip>
          <a:stretch>
            <a:fillRect/>
          </a:stretch>
        </p:blipFill>
        <p:spPr>
          <a:xfrm>
            <a:off x="45675" y="54075"/>
            <a:ext cx="5116099" cy="48890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8"/>
          <p:cNvPicPr preferRelativeResize="0"/>
          <p:nvPr/>
        </p:nvPicPr>
        <p:blipFill>
          <a:blip r:embed="rId3">
            <a:alphaModFix/>
          </a:blip>
          <a:stretch>
            <a:fillRect/>
          </a:stretch>
        </p:blipFill>
        <p:spPr>
          <a:xfrm>
            <a:off x="866775" y="77325"/>
            <a:ext cx="3151050" cy="3160075"/>
          </a:xfrm>
          <a:prstGeom prst="rect">
            <a:avLst/>
          </a:prstGeom>
          <a:noFill/>
          <a:ln>
            <a:noFill/>
          </a:ln>
        </p:spPr>
      </p:pic>
      <p:sp>
        <p:nvSpPr>
          <p:cNvPr id="140" name="Google Shape;140;p28"/>
          <p:cNvSpPr txBox="1"/>
          <p:nvPr>
            <p:ph idx="1" type="body"/>
          </p:nvPr>
        </p:nvSpPr>
        <p:spPr>
          <a:xfrm>
            <a:off x="413475" y="3157350"/>
            <a:ext cx="8507700" cy="184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sz="1400">
                <a:solidFill>
                  <a:schemeClr val="dk1"/>
                </a:solidFill>
              </a:rPr>
              <a:t>Pada distribusi level tersebut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Level beginner mendapatkan proporsi 72% atau 180 kursus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Level intermediate mendapatkan proporsi 28% atau 70 kursus</a:t>
            </a:r>
            <a:endParaRPr sz="1400">
              <a:solidFill>
                <a:schemeClr val="dk1"/>
              </a:solidFill>
            </a:endParaRPr>
          </a:p>
          <a:p>
            <a:pPr indent="0" lvl="0" marL="0" rtl="0" algn="l">
              <a:spcBef>
                <a:spcPts val="1200"/>
              </a:spcBef>
              <a:spcAft>
                <a:spcPts val="1200"/>
              </a:spcAft>
              <a:buNone/>
            </a:pPr>
            <a:r>
              <a:rPr lang="id" sz="1400">
                <a:solidFill>
                  <a:schemeClr val="dk1"/>
                </a:solidFill>
              </a:rPr>
              <a:t>Artinya, sebagian besar kursus berada pada level beginner dengan 180 kursus level beginner.</a:t>
            </a:r>
            <a:endParaRPr sz="1400">
              <a:solidFill>
                <a:schemeClr val="dk1"/>
              </a:solidFill>
            </a:endParaRPr>
          </a:p>
        </p:txBody>
      </p:sp>
      <p:pic>
        <p:nvPicPr>
          <p:cNvPr id="141" name="Google Shape;141;p28"/>
          <p:cNvPicPr preferRelativeResize="0"/>
          <p:nvPr/>
        </p:nvPicPr>
        <p:blipFill>
          <a:blip r:embed="rId4">
            <a:alphaModFix/>
          </a:blip>
          <a:stretch>
            <a:fillRect/>
          </a:stretch>
        </p:blipFill>
        <p:spPr>
          <a:xfrm>
            <a:off x="4626100" y="77325"/>
            <a:ext cx="3996975" cy="3080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9"/>
          <p:cNvSpPr txBox="1"/>
          <p:nvPr>
            <p:ph idx="1" type="body"/>
          </p:nvPr>
        </p:nvSpPr>
        <p:spPr>
          <a:xfrm>
            <a:off x="4572000" y="253275"/>
            <a:ext cx="4260300" cy="4315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id" sz="1400">
                <a:solidFill>
                  <a:schemeClr val="dk1"/>
                </a:solidFill>
              </a:rPr>
              <a:t>Pada korelasi hubungan level dan author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Sebagian besar kontribusi konten difokuskan pada level beginner. Hal ini ditunjukkan dengan warna biru yang lebih gelap pada baris "beginner" dibandingkan dengan baris "intermediate".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Ada beberapa penulis yang sangat produktif, terutama pada level beginner, yaitu Ahmad Hakim dan Aulia Rahman.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Tidak semua penulis memberikan kontribusi yang sama pada kedua level tersebut. Beberapa mentor berkontribusi pada level beginner, sementara yang lain memberikan kontribusi lebih pada level intermediate.</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pic>
        <p:nvPicPr>
          <p:cNvPr id="147" name="Google Shape;147;p29"/>
          <p:cNvPicPr preferRelativeResize="0"/>
          <p:nvPr/>
        </p:nvPicPr>
        <p:blipFill>
          <a:blip r:embed="rId3">
            <a:alphaModFix/>
          </a:blip>
          <a:stretch>
            <a:fillRect/>
          </a:stretch>
        </p:blipFill>
        <p:spPr>
          <a:xfrm>
            <a:off x="152400" y="152400"/>
            <a:ext cx="4267200" cy="471010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idx="1" type="body"/>
          </p:nvPr>
        </p:nvSpPr>
        <p:spPr>
          <a:xfrm>
            <a:off x="142875" y="3197375"/>
            <a:ext cx="8864700" cy="16992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605"/>
              <a:buNone/>
            </a:pPr>
            <a:r>
              <a:rPr lang="id" sz="1400">
                <a:solidFill>
                  <a:schemeClr val="dk1"/>
                </a:solidFill>
              </a:rPr>
              <a:t>Pada visualisasi hubungan antara title dan level dapat dilihat bahwa:</a:t>
            </a:r>
            <a:endParaRPr sz="1400">
              <a:solidFill>
                <a:schemeClr val="dk1"/>
              </a:solidFill>
            </a:endParaRPr>
          </a:p>
          <a:p>
            <a:pPr indent="-317500" lvl="0" marL="457200" rtl="0" algn="just">
              <a:lnSpc>
                <a:spcPct val="95000"/>
              </a:lnSpc>
              <a:spcBef>
                <a:spcPts val="1200"/>
              </a:spcBef>
              <a:spcAft>
                <a:spcPts val="0"/>
              </a:spcAft>
              <a:buClr>
                <a:schemeClr val="dk1"/>
              </a:buClr>
              <a:buSzPts val="1400"/>
              <a:buAutoNum type="arabicPeriod"/>
            </a:pPr>
            <a:r>
              <a:rPr lang="id" sz="1400">
                <a:solidFill>
                  <a:schemeClr val="dk1"/>
                </a:solidFill>
              </a:rPr>
              <a:t>Terdapat 3</a:t>
            </a:r>
            <a:r>
              <a:rPr lang="id" sz="1400">
                <a:solidFill>
                  <a:schemeClr val="dk1"/>
                </a:solidFill>
              </a:rPr>
              <a:t> judul kursus yang ditampilkan pada level beginner. Hal ini ditampilkan oleh warna biru yang lebih gelap pada kolom "beginner".</a:t>
            </a:r>
            <a:endParaRPr sz="1400">
              <a:solidFill>
                <a:schemeClr val="dk1"/>
              </a:solidFill>
            </a:endParaRPr>
          </a:p>
          <a:p>
            <a:pPr indent="-317500" lvl="0" marL="457200" rtl="0" algn="just">
              <a:lnSpc>
                <a:spcPct val="95000"/>
              </a:lnSpc>
              <a:spcBef>
                <a:spcPts val="0"/>
              </a:spcBef>
              <a:spcAft>
                <a:spcPts val="0"/>
              </a:spcAft>
              <a:buClr>
                <a:schemeClr val="dk1"/>
              </a:buClr>
              <a:buSzPts val="1400"/>
              <a:buAutoNum type="arabicPeriod"/>
            </a:pPr>
            <a:r>
              <a:rPr lang="id" sz="1400">
                <a:solidFill>
                  <a:schemeClr val="dk1"/>
                </a:solidFill>
              </a:rPr>
              <a:t>Terdapat 2 kursus yang dikategorikan sebagai level intermediate pada visualisasi ini. Ini menunjukkan bahwa platform belum menyediakan konten yang lebih lanjut.</a:t>
            </a:r>
            <a:endParaRPr sz="1400"/>
          </a:p>
        </p:txBody>
      </p:sp>
      <p:pic>
        <p:nvPicPr>
          <p:cNvPr id="153" name="Google Shape;153;p30"/>
          <p:cNvPicPr preferRelativeResize="0"/>
          <p:nvPr/>
        </p:nvPicPr>
        <p:blipFill>
          <a:blip r:embed="rId3">
            <a:alphaModFix/>
          </a:blip>
          <a:stretch>
            <a:fillRect/>
          </a:stretch>
        </p:blipFill>
        <p:spPr>
          <a:xfrm>
            <a:off x="389675" y="151950"/>
            <a:ext cx="8239126" cy="2893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1"/>
          <p:cNvSpPr txBox="1"/>
          <p:nvPr>
            <p:ph idx="1" type="body"/>
          </p:nvPr>
        </p:nvSpPr>
        <p:spPr>
          <a:xfrm>
            <a:off x="4572000" y="513875"/>
            <a:ext cx="4260300" cy="3982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id" sz="1460">
                <a:solidFill>
                  <a:schemeClr val="dk1"/>
                </a:solidFill>
              </a:rPr>
              <a:t>Pada distribusi harga berdasarkan level dapat dilihat bahwa:</a:t>
            </a:r>
            <a:endParaRPr sz="1460">
              <a:solidFill>
                <a:schemeClr val="dk1"/>
              </a:solidFill>
            </a:endParaRPr>
          </a:p>
          <a:p>
            <a:pPr indent="-321310" lvl="0" marL="457200" rtl="0" algn="l">
              <a:lnSpc>
                <a:spcPct val="95000"/>
              </a:lnSpc>
              <a:spcBef>
                <a:spcPts val="1200"/>
              </a:spcBef>
              <a:spcAft>
                <a:spcPts val="0"/>
              </a:spcAft>
              <a:buClr>
                <a:schemeClr val="dk1"/>
              </a:buClr>
              <a:buSzPts val="1460"/>
              <a:buAutoNum type="arabicPeriod"/>
            </a:pPr>
            <a:r>
              <a:rPr lang="id" sz="1460">
                <a:solidFill>
                  <a:schemeClr val="dk1"/>
                </a:solidFill>
              </a:rPr>
              <a:t>Kursus tingkat beginner cenderung memiliki harga yang lebih tinggi dibandingkan dengan kursus tingkat intermediate. Hal ini ditunjukkan oleh posisi kotak (box) pada sumbu y yang lebih tinggi untuk kategori "beginner".</a:t>
            </a:r>
            <a:endParaRPr sz="1460">
              <a:solidFill>
                <a:schemeClr val="dk1"/>
              </a:solidFill>
            </a:endParaRPr>
          </a:p>
          <a:p>
            <a:pPr indent="-321310" lvl="0" marL="457200" rtl="0" algn="l">
              <a:lnSpc>
                <a:spcPct val="95000"/>
              </a:lnSpc>
              <a:spcBef>
                <a:spcPts val="0"/>
              </a:spcBef>
              <a:spcAft>
                <a:spcPts val="0"/>
              </a:spcAft>
              <a:buClr>
                <a:schemeClr val="dk1"/>
              </a:buClr>
              <a:buSzPts val="1460"/>
              <a:buAutoNum type="arabicPeriod"/>
            </a:pPr>
            <a:r>
              <a:rPr lang="id" sz="1460">
                <a:solidFill>
                  <a:schemeClr val="dk1"/>
                </a:solidFill>
              </a:rPr>
              <a:t>Rentang harga (jarak antara garis bawah dan atas kotak) untuk kursus tingkat beginner juga cenderung lebih lebar. Ini menunjukkan bahwa harga kursus beginner lebih bervariasi, ada yang sangat murah dan ada yang sangat mahal.</a:t>
            </a:r>
            <a:endParaRPr sz="1460">
              <a:solidFill>
                <a:schemeClr val="dk1"/>
              </a:solidFill>
            </a:endParaRPr>
          </a:p>
        </p:txBody>
      </p:sp>
      <p:pic>
        <p:nvPicPr>
          <p:cNvPr id="159" name="Google Shape;159;p31"/>
          <p:cNvPicPr preferRelativeResize="0"/>
          <p:nvPr/>
        </p:nvPicPr>
        <p:blipFill>
          <a:blip r:embed="rId3">
            <a:alphaModFix/>
          </a:blip>
          <a:stretch>
            <a:fillRect/>
          </a:stretch>
        </p:blipFill>
        <p:spPr>
          <a:xfrm>
            <a:off x="163225" y="736875"/>
            <a:ext cx="4267199" cy="325222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ph idx="1" type="body"/>
          </p:nvPr>
        </p:nvSpPr>
        <p:spPr>
          <a:xfrm>
            <a:off x="4572000" y="361525"/>
            <a:ext cx="4466700" cy="455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sz="1400">
                <a:solidFill>
                  <a:schemeClr val="dk1"/>
                </a:solidFill>
              </a:rPr>
              <a:t>Pada visualisasi berikut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Terdapat variasi yang signifikan dalam jumlah peserta di antara 10 author teratas. Hal ini menunjukkan bahwa popularitas dan daya tarik masing-masing instruktur berbeda-beda.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Beberapa author memiliki jumlah peserta yang jauh lebih banyak dibandingkan dengan author lainnya. Ini mengindikasikan bahwa kursus yang mereka ajarkan lebih diminati atau lebih relevan dengan kebutuhan pasar.</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Jumlah peserta dapat menjadi indikator potensial dari setiap author. Author dengan jumlah peserta yang banyak mungkin memiliki keahlian khusus, gaya mengajar yang menarik, atau topik kursus yang sangat relevan.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Author ‘Bagus Budi Cahyono’ memiliki jumlah siswa terbanyak, diikuti Ahmad Hakim dan Toni Haryanto</a:t>
            </a:r>
            <a:endParaRPr sz="1400">
              <a:solidFill>
                <a:schemeClr val="dk1"/>
              </a:solidFill>
            </a:endParaRPr>
          </a:p>
        </p:txBody>
      </p:sp>
      <p:pic>
        <p:nvPicPr>
          <p:cNvPr id="165" name="Google Shape;165;p32"/>
          <p:cNvPicPr preferRelativeResize="0"/>
          <p:nvPr/>
        </p:nvPicPr>
        <p:blipFill>
          <a:blip r:embed="rId3">
            <a:alphaModFix/>
          </a:blip>
          <a:stretch>
            <a:fillRect/>
          </a:stretch>
        </p:blipFill>
        <p:spPr>
          <a:xfrm>
            <a:off x="163225" y="599625"/>
            <a:ext cx="4267200" cy="39442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ph idx="1" type="body"/>
          </p:nvPr>
        </p:nvSpPr>
        <p:spPr>
          <a:xfrm>
            <a:off x="4572000" y="732925"/>
            <a:ext cx="4260300" cy="38361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id" sz="1430">
                <a:solidFill>
                  <a:schemeClr val="dk1"/>
                </a:solidFill>
              </a:rPr>
              <a:t>Pada visualisasi tersebut dapat dilihat bahwa: </a:t>
            </a:r>
            <a:endParaRPr sz="1430">
              <a:solidFill>
                <a:schemeClr val="dk1"/>
              </a:solidFill>
            </a:endParaRPr>
          </a:p>
          <a:p>
            <a:pPr indent="-319405" lvl="0" marL="457200" rtl="0" algn="l">
              <a:lnSpc>
                <a:spcPct val="95000"/>
              </a:lnSpc>
              <a:spcBef>
                <a:spcPts val="1200"/>
              </a:spcBef>
              <a:spcAft>
                <a:spcPts val="0"/>
              </a:spcAft>
              <a:buClr>
                <a:schemeClr val="dk1"/>
              </a:buClr>
              <a:buSzPts val="1430"/>
              <a:buAutoNum type="arabicPeriod"/>
            </a:pPr>
            <a:r>
              <a:rPr lang="id" sz="1430">
                <a:solidFill>
                  <a:schemeClr val="dk1"/>
                </a:solidFill>
              </a:rPr>
              <a:t>Terlihat jelas bahwa sebagian besar kursus memiliki rating yang tinggi, terutama pada rentang 4.6 hingga 5.0. Ini mengindikasikan bahwa secara umum, kualitas kursus yang ditawarkan cukup baik dan memuaskan peserta.</a:t>
            </a:r>
            <a:endParaRPr sz="1430">
              <a:solidFill>
                <a:schemeClr val="dk1"/>
              </a:solidFill>
            </a:endParaRPr>
          </a:p>
          <a:p>
            <a:pPr indent="-319405" lvl="0" marL="457200" rtl="0" algn="l">
              <a:lnSpc>
                <a:spcPct val="95000"/>
              </a:lnSpc>
              <a:spcBef>
                <a:spcPts val="0"/>
              </a:spcBef>
              <a:spcAft>
                <a:spcPts val="0"/>
              </a:spcAft>
              <a:buClr>
                <a:schemeClr val="dk1"/>
              </a:buClr>
              <a:buSzPts val="1430"/>
              <a:buAutoNum type="arabicPeriod"/>
            </a:pPr>
            <a:r>
              <a:rPr lang="id" sz="1430">
                <a:solidFill>
                  <a:schemeClr val="dk1"/>
                </a:solidFill>
              </a:rPr>
              <a:t>Terdapat konsentrasi yang cukup tinggi pada rating tertentu, misalnya pada rating 4.8. Ini bisa mengindikasikan adanya standar kualitas tertentu yang seringkali dicapai oleh kursus-kursus tersebut</a:t>
            </a:r>
            <a:endParaRPr sz="1430">
              <a:solidFill>
                <a:schemeClr val="dk1"/>
              </a:solidFill>
            </a:endParaRPr>
          </a:p>
          <a:p>
            <a:pPr indent="-319405" lvl="0" marL="457200" rtl="0" algn="l">
              <a:lnSpc>
                <a:spcPct val="95000"/>
              </a:lnSpc>
              <a:spcBef>
                <a:spcPts val="0"/>
              </a:spcBef>
              <a:spcAft>
                <a:spcPts val="0"/>
              </a:spcAft>
              <a:buClr>
                <a:schemeClr val="dk1"/>
              </a:buClr>
              <a:buSzPts val="1430"/>
              <a:buAutoNum type="arabicPeriod"/>
            </a:pPr>
            <a:r>
              <a:rPr lang="id" sz="1430">
                <a:solidFill>
                  <a:schemeClr val="dk1"/>
                </a:solidFill>
              </a:rPr>
              <a:t>Jumlah kursus dengan rating di bawah 4.5 sangat sedikit. Ini menunjukkan bahwa hanya sebagian kecil kursus yang memiliki kualitas yang kurang memuaskan.</a:t>
            </a:r>
            <a:endParaRPr sz="1430">
              <a:solidFill>
                <a:schemeClr val="dk1"/>
              </a:solidFill>
            </a:endParaRPr>
          </a:p>
        </p:txBody>
      </p:sp>
      <p:pic>
        <p:nvPicPr>
          <p:cNvPr id="171" name="Google Shape;171;p33"/>
          <p:cNvPicPr preferRelativeResize="0"/>
          <p:nvPr/>
        </p:nvPicPr>
        <p:blipFill>
          <a:blip r:embed="rId3">
            <a:alphaModFix/>
          </a:blip>
          <a:stretch>
            <a:fillRect/>
          </a:stretch>
        </p:blipFill>
        <p:spPr>
          <a:xfrm>
            <a:off x="119775" y="1326800"/>
            <a:ext cx="4267200" cy="278623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ph idx="1" type="body"/>
          </p:nvPr>
        </p:nvSpPr>
        <p:spPr>
          <a:xfrm>
            <a:off x="295775" y="3849550"/>
            <a:ext cx="8645100" cy="10917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1200"/>
              </a:spcAft>
              <a:buNone/>
            </a:pPr>
            <a:r>
              <a:rPr lang="id" sz="1400">
                <a:solidFill>
                  <a:schemeClr val="dk1"/>
                </a:solidFill>
              </a:rPr>
              <a:t>Dari visualisasi terlihat sangat jelas bahwa jumlah kursus berbayar jauh lebih banyak dibandingkan dengan kursus gratis. Hampir semua kursus yang ditawarkan dalam dataset ini dikategorikan sebagai berbayar. Jumlah kursus gratis tidak ada sama sekali. Ini mengindikasikan bahwa model bisnis yang dominan pada platform ini adalah berbasis langganan atau pembelian kursus.</a:t>
            </a:r>
            <a:endParaRPr sz="1400">
              <a:solidFill>
                <a:schemeClr val="dk1"/>
              </a:solidFill>
            </a:endParaRPr>
          </a:p>
        </p:txBody>
      </p:sp>
      <p:pic>
        <p:nvPicPr>
          <p:cNvPr id="177" name="Google Shape;177;p34"/>
          <p:cNvPicPr preferRelativeResize="0"/>
          <p:nvPr/>
        </p:nvPicPr>
        <p:blipFill>
          <a:blip r:embed="rId3">
            <a:alphaModFix/>
          </a:blip>
          <a:stretch>
            <a:fillRect/>
          </a:stretch>
        </p:blipFill>
        <p:spPr>
          <a:xfrm>
            <a:off x="239225" y="205713"/>
            <a:ext cx="3977432" cy="3056976"/>
          </a:xfrm>
          <a:prstGeom prst="rect">
            <a:avLst/>
          </a:prstGeom>
          <a:noFill/>
          <a:ln>
            <a:noFill/>
          </a:ln>
        </p:spPr>
      </p:pic>
      <p:pic>
        <p:nvPicPr>
          <p:cNvPr id="178" name="Google Shape;178;p34"/>
          <p:cNvPicPr preferRelativeResize="0"/>
          <p:nvPr/>
        </p:nvPicPr>
        <p:blipFill>
          <a:blip r:embed="rId4">
            <a:alphaModFix/>
          </a:blip>
          <a:stretch>
            <a:fillRect/>
          </a:stretch>
        </p:blipFill>
        <p:spPr>
          <a:xfrm>
            <a:off x="4946626" y="254475"/>
            <a:ext cx="3646176" cy="2959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idx="1" type="body"/>
          </p:nvPr>
        </p:nvSpPr>
        <p:spPr>
          <a:xfrm>
            <a:off x="4406225" y="123975"/>
            <a:ext cx="4737900" cy="49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sz="1400">
                <a:solidFill>
                  <a:schemeClr val="dk1"/>
                </a:solidFill>
              </a:rPr>
              <a:t>Pada visualisasi tersebut dapat dilihat bahwa:</a:t>
            </a:r>
            <a:endParaRPr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K</a:t>
            </a:r>
            <a:r>
              <a:rPr lang="id" sz="1400">
                <a:solidFill>
                  <a:schemeClr val="dk1"/>
                </a:solidFill>
              </a:rPr>
              <a:t>edua garis tren (untuk level beginner dan intermediate) memiliki kemiringan negatif, yang menunjukkan adanya korelasi negatif antara harga dan rating. Artinya, semakin tinggi harga suatu kursus, cenderung semakin rendah ratingnya. Namun, korelasi ini tidak terlalu kuat, terutama untuk level intermediate.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Untuk kursus level beginner, terlihat kecenderungan bahwa semakin mahal kursus, ratingnya cenderung menurun. Ini mengindikasikan bahwa peserta kursus lebih sensitif terhadap harga dan mengharapkan kualitas yang sesuai dengan harga.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Untuk kursus level intermediate, korelasi antara harga dan rating tidak sekuat level beginner. Ini bisa jadi karena peserta kursus lebih fokus pada kualitas materi dan pengalaman belajar daripada harga.</a:t>
            </a:r>
            <a:endParaRPr sz="1400">
              <a:solidFill>
                <a:schemeClr val="dk1"/>
              </a:solidFill>
            </a:endParaRPr>
          </a:p>
        </p:txBody>
      </p:sp>
      <p:pic>
        <p:nvPicPr>
          <p:cNvPr id="184" name="Google Shape;184;p35"/>
          <p:cNvPicPr preferRelativeResize="0"/>
          <p:nvPr/>
        </p:nvPicPr>
        <p:blipFill>
          <a:blip r:embed="rId3">
            <a:alphaModFix/>
          </a:blip>
          <a:stretch>
            <a:fillRect/>
          </a:stretch>
        </p:blipFill>
        <p:spPr>
          <a:xfrm>
            <a:off x="76275" y="1294175"/>
            <a:ext cx="4267201" cy="280211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6"/>
          <p:cNvSpPr txBox="1"/>
          <p:nvPr>
            <p:ph idx="1" type="body"/>
          </p:nvPr>
        </p:nvSpPr>
        <p:spPr>
          <a:xfrm>
            <a:off x="4417100" y="102225"/>
            <a:ext cx="4621500" cy="4719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id" sz="1425">
                <a:solidFill>
                  <a:schemeClr val="dk1"/>
                </a:solidFill>
              </a:rPr>
              <a:t>Pada visualisasi berikut dapat dilihat bahwa:</a:t>
            </a:r>
            <a:endParaRPr sz="1425">
              <a:solidFill>
                <a:schemeClr val="dk1"/>
              </a:solidFill>
            </a:endParaRPr>
          </a:p>
          <a:p>
            <a:pPr indent="-319087" lvl="0" marL="457200" rtl="0" algn="l">
              <a:lnSpc>
                <a:spcPct val="95000"/>
              </a:lnSpc>
              <a:spcBef>
                <a:spcPts val="1200"/>
              </a:spcBef>
              <a:spcAft>
                <a:spcPts val="0"/>
              </a:spcAft>
              <a:buClr>
                <a:schemeClr val="dk1"/>
              </a:buClr>
              <a:buSzPts val="1425"/>
              <a:buAutoNum type="arabicPeriod"/>
            </a:pPr>
            <a:r>
              <a:rPr lang="id" sz="1425">
                <a:solidFill>
                  <a:schemeClr val="dk1"/>
                </a:solidFill>
              </a:rPr>
              <a:t>K</a:t>
            </a:r>
            <a:r>
              <a:rPr lang="id" sz="1425">
                <a:solidFill>
                  <a:schemeClr val="dk1"/>
                </a:solidFill>
              </a:rPr>
              <a:t>edua garis tren (untuk level beginner dan intermediate) memiliki kemiringan negatif, yang menunjukkan adanya korelasi negatif antara harga dan jumlah siswa. Artinya, semakin tinggi harga suatu kursus, cenderung semakin sedikit jumlah siswa yang mendaftar.</a:t>
            </a:r>
            <a:endParaRPr sz="1425">
              <a:solidFill>
                <a:schemeClr val="dk1"/>
              </a:solidFill>
            </a:endParaRPr>
          </a:p>
          <a:p>
            <a:pPr indent="-319087" lvl="0" marL="457200" rtl="0" algn="l">
              <a:lnSpc>
                <a:spcPct val="95000"/>
              </a:lnSpc>
              <a:spcBef>
                <a:spcPts val="0"/>
              </a:spcBef>
              <a:spcAft>
                <a:spcPts val="0"/>
              </a:spcAft>
              <a:buClr>
                <a:schemeClr val="dk1"/>
              </a:buClr>
              <a:buSzPts val="1425"/>
              <a:buAutoNum type="arabicPeriod"/>
            </a:pPr>
            <a:r>
              <a:rPr lang="id" sz="1425">
                <a:solidFill>
                  <a:schemeClr val="dk1"/>
                </a:solidFill>
              </a:rPr>
              <a:t>Untuk kursus level beginner, terlihat kecenderungan bahwa semakin mahal kursus, jumlah siswa yang mendaftar cenderung menurun. Ini mungkin mengindikasikan bahwa peserta kursus pemula lebih sensitif terhadap harga dan lebih memilih kursus dengan harga yang terjangkau.</a:t>
            </a:r>
            <a:endParaRPr sz="1425">
              <a:solidFill>
                <a:schemeClr val="dk1"/>
              </a:solidFill>
            </a:endParaRPr>
          </a:p>
          <a:p>
            <a:pPr indent="-319087" lvl="0" marL="457200" rtl="0" algn="l">
              <a:lnSpc>
                <a:spcPct val="95000"/>
              </a:lnSpc>
              <a:spcBef>
                <a:spcPts val="0"/>
              </a:spcBef>
              <a:spcAft>
                <a:spcPts val="0"/>
              </a:spcAft>
              <a:buClr>
                <a:schemeClr val="dk1"/>
              </a:buClr>
              <a:buSzPts val="1425"/>
              <a:buAutoNum type="arabicPeriod"/>
            </a:pPr>
            <a:r>
              <a:rPr lang="id" sz="1425">
                <a:solidFill>
                  <a:schemeClr val="dk1"/>
                </a:solidFill>
              </a:rPr>
              <a:t>Untuk kursus level intermediate, korelasi antara harga dan jumlah siswa juga negatif, namun terlihat lebih lemah dibandingkan dengan level beginner. Ini bisa jadi karena peserta kursus menengah lebih fokus pada kualitas materi dan lebih bersedia membayar lebih untuk mendapatkan kursus yang berkualitas.</a:t>
            </a:r>
            <a:endParaRPr sz="1425">
              <a:solidFill>
                <a:schemeClr val="dk1"/>
              </a:solidFill>
            </a:endParaRPr>
          </a:p>
        </p:txBody>
      </p:sp>
      <p:pic>
        <p:nvPicPr>
          <p:cNvPr id="190" name="Google Shape;190;p36"/>
          <p:cNvPicPr preferRelativeResize="0"/>
          <p:nvPr/>
        </p:nvPicPr>
        <p:blipFill>
          <a:blip r:embed="rId3">
            <a:alphaModFix/>
          </a:blip>
          <a:stretch>
            <a:fillRect/>
          </a:stretch>
        </p:blipFill>
        <p:spPr>
          <a:xfrm>
            <a:off x="54525" y="1139950"/>
            <a:ext cx="4267201" cy="271729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7"/>
          <p:cNvSpPr txBox="1"/>
          <p:nvPr>
            <p:ph idx="1" type="body"/>
          </p:nvPr>
        </p:nvSpPr>
        <p:spPr>
          <a:xfrm>
            <a:off x="4419600" y="145725"/>
            <a:ext cx="4575600" cy="47085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id" sz="1425">
                <a:solidFill>
                  <a:schemeClr val="dk1"/>
                </a:solidFill>
              </a:rPr>
              <a:t>Pada visualisasi tersebut dapat dilihat bahwa:</a:t>
            </a:r>
            <a:endParaRPr sz="1425">
              <a:solidFill>
                <a:schemeClr val="dk1"/>
              </a:solidFill>
            </a:endParaRPr>
          </a:p>
          <a:p>
            <a:pPr indent="-319087" lvl="0" marL="457200" rtl="0" algn="l">
              <a:lnSpc>
                <a:spcPct val="105000"/>
              </a:lnSpc>
              <a:spcBef>
                <a:spcPts val="1200"/>
              </a:spcBef>
              <a:spcAft>
                <a:spcPts val="0"/>
              </a:spcAft>
              <a:buClr>
                <a:schemeClr val="dk1"/>
              </a:buClr>
              <a:buSzPts val="1425"/>
              <a:buAutoNum type="arabicPeriod"/>
            </a:pPr>
            <a:r>
              <a:rPr lang="id" sz="1425">
                <a:solidFill>
                  <a:schemeClr val="dk1"/>
                </a:solidFill>
              </a:rPr>
              <a:t>K</a:t>
            </a:r>
            <a:r>
              <a:rPr lang="id" sz="1425">
                <a:solidFill>
                  <a:schemeClr val="dk1"/>
                </a:solidFill>
              </a:rPr>
              <a:t>edua garis tren (untuk level beginner dan intermediate) memiliki kemiringan yang sangat kecil, mendekati horizontal. Ini menunjukkan adanya korelasi yang sangat lemah antara rating dan jumlah siswa. Artinya, perubahan pada rating kursus tidak memberikan pengaruh yang signifikan terhadap jumlah siswa yang mendaftar.</a:t>
            </a:r>
            <a:endParaRPr sz="1425">
              <a:solidFill>
                <a:schemeClr val="dk1"/>
              </a:solidFill>
            </a:endParaRPr>
          </a:p>
          <a:p>
            <a:pPr indent="-319087" lvl="0" marL="457200" rtl="0" algn="l">
              <a:lnSpc>
                <a:spcPct val="105000"/>
              </a:lnSpc>
              <a:spcBef>
                <a:spcPts val="0"/>
              </a:spcBef>
              <a:spcAft>
                <a:spcPts val="0"/>
              </a:spcAft>
              <a:buClr>
                <a:schemeClr val="dk1"/>
              </a:buClr>
              <a:buSzPts val="1425"/>
              <a:buAutoNum type="arabicPeriod"/>
            </a:pPr>
            <a:r>
              <a:rPr lang="id" sz="1425">
                <a:solidFill>
                  <a:schemeClr val="dk1"/>
                </a:solidFill>
              </a:rPr>
              <a:t>Untuk kursus level beginner terlihat sedikit kecenderungan positif, namun sangat lemah. Artinya, semakin tinggi rating kursus, cenderung sedikit lebih banyak siswa yang mendaftar. </a:t>
            </a:r>
            <a:endParaRPr sz="1425">
              <a:solidFill>
                <a:schemeClr val="dk1"/>
              </a:solidFill>
            </a:endParaRPr>
          </a:p>
          <a:p>
            <a:pPr indent="-319087" lvl="0" marL="457200" rtl="0" algn="l">
              <a:lnSpc>
                <a:spcPct val="105000"/>
              </a:lnSpc>
              <a:spcBef>
                <a:spcPts val="0"/>
              </a:spcBef>
              <a:spcAft>
                <a:spcPts val="0"/>
              </a:spcAft>
              <a:buClr>
                <a:schemeClr val="dk1"/>
              </a:buClr>
              <a:buSzPts val="1425"/>
              <a:buAutoNum type="arabicPeriod"/>
            </a:pPr>
            <a:r>
              <a:rPr lang="id" sz="1425">
                <a:solidFill>
                  <a:schemeClr val="dk1"/>
                </a:solidFill>
              </a:rPr>
              <a:t>Untuk kursus level intermediate, juga terlihat kecenderungan positif yang sangat lemah. Namun, sebaran data lebih tersebar dibandingkan dengan level pemula, menunjukkan variasi yang lebih besar.</a:t>
            </a:r>
            <a:endParaRPr sz="1425">
              <a:solidFill>
                <a:schemeClr val="dk1"/>
              </a:solidFill>
            </a:endParaRPr>
          </a:p>
        </p:txBody>
      </p:sp>
      <p:pic>
        <p:nvPicPr>
          <p:cNvPr id="196" name="Google Shape;196;p37"/>
          <p:cNvPicPr preferRelativeResize="0"/>
          <p:nvPr/>
        </p:nvPicPr>
        <p:blipFill>
          <a:blip r:embed="rId3">
            <a:alphaModFix/>
          </a:blip>
          <a:stretch>
            <a:fillRect/>
          </a:stretch>
        </p:blipFill>
        <p:spPr>
          <a:xfrm>
            <a:off x="65400" y="1376225"/>
            <a:ext cx="4267201" cy="271729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type="title"/>
          </p:nvPr>
        </p:nvSpPr>
        <p:spPr>
          <a:xfrm>
            <a:off x="376950"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MENJAWAB PERTANYAAN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9"/>
          <p:cNvSpPr txBox="1"/>
          <p:nvPr>
            <p:ph idx="1" type="body"/>
          </p:nvPr>
        </p:nvSpPr>
        <p:spPr>
          <a:xfrm>
            <a:off x="311700" y="307400"/>
            <a:ext cx="8520600" cy="42615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Clr>
                <a:schemeClr val="dk1"/>
              </a:buClr>
              <a:buSzPts val="1400"/>
              <a:buAutoNum type="arabicPeriod"/>
            </a:pPr>
            <a:r>
              <a:rPr b="1" lang="id" sz="1400">
                <a:solidFill>
                  <a:schemeClr val="dk1"/>
                </a:solidFill>
              </a:rPr>
              <a:t>Kursus online apa yang banyak diminati?</a:t>
            </a:r>
            <a:endParaRPr b="1" sz="1400">
              <a:solidFill>
                <a:schemeClr val="dk1"/>
              </a:solidFill>
            </a:endParaRPr>
          </a:p>
          <a:p>
            <a:pPr indent="0" lvl="0" marL="457200" rtl="0" algn="l">
              <a:spcBef>
                <a:spcPts val="1200"/>
              </a:spcBef>
              <a:spcAft>
                <a:spcPts val="0"/>
              </a:spcAft>
              <a:buNone/>
            </a:pPr>
            <a:r>
              <a:rPr lang="id" sz="1400">
                <a:solidFill>
                  <a:schemeClr val="dk1"/>
                </a:solidFill>
              </a:rPr>
              <a:t>Tiga kursus online yang banyak diminati adalah ‘Belajar Pemrograman PHP’, ‘Membangun Website Toko Online Berbasis Codelgniter 3’ dan ‘Menguasai Framework Codelgniter 3’.</a:t>
            </a:r>
            <a:endParaRPr sz="1400">
              <a:solidFill>
                <a:schemeClr val="dk1"/>
              </a:solidFill>
            </a:endParaRPr>
          </a:p>
          <a:p>
            <a:pPr indent="-317500" lvl="0" marL="457200" rtl="0" algn="l">
              <a:spcBef>
                <a:spcPts val="1200"/>
              </a:spcBef>
              <a:spcAft>
                <a:spcPts val="0"/>
              </a:spcAft>
              <a:buClr>
                <a:schemeClr val="dk1"/>
              </a:buClr>
              <a:buSzPts val="1400"/>
              <a:buAutoNum type="arabicPeriod"/>
            </a:pPr>
            <a:r>
              <a:rPr b="1" lang="id" sz="1400">
                <a:solidFill>
                  <a:schemeClr val="dk1"/>
                </a:solidFill>
              </a:rPr>
              <a:t>Berapa jumlah total kursus yang tersedia di platform?</a:t>
            </a:r>
            <a:endParaRPr b="1" sz="1400">
              <a:solidFill>
                <a:schemeClr val="dk1"/>
              </a:solidFill>
            </a:endParaRPr>
          </a:p>
          <a:p>
            <a:pPr indent="0" lvl="0" marL="457200" rtl="0" algn="l">
              <a:spcBef>
                <a:spcPts val="1200"/>
              </a:spcBef>
              <a:spcAft>
                <a:spcPts val="0"/>
              </a:spcAft>
              <a:buNone/>
            </a:pPr>
            <a:r>
              <a:rPr lang="id" sz="1400">
                <a:solidFill>
                  <a:schemeClr val="dk1"/>
                </a:solidFill>
              </a:rPr>
              <a:t>Jumlah total kursus ada 250 kursus.</a:t>
            </a:r>
            <a:endParaRPr sz="1400">
              <a:solidFill>
                <a:schemeClr val="dk1"/>
              </a:solidFill>
            </a:endParaRPr>
          </a:p>
          <a:p>
            <a:pPr indent="-317500" lvl="0" marL="457200" rtl="0" algn="l">
              <a:spcBef>
                <a:spcPts val="1200"/>
              </a:spcBef>
              <a:spcAft>
                <a:spcPts val="0"/>
              </a:spcAft>
              <a:buClr>
                <a:schemeClr val="dk1"/>
              </a:buClr>
              <a:buSzPts val="1400"/>
              <a:buAutoNum type="arabicPeriod"/>
            </a:pPr>
            <a:r>
              <a:rPr b="1" lang="id" sz="1400">
                <a:solidFill>
                  <a:schemeClr val="dk1"/>
                </a:solidFill>
              </a:rPr>
              <a:t>Berapa jumlah total kursus gratis (Rp.0,-) yang tersedia di platform?</a:t>
            </a:r>
            <a:endParaRPr b="1" sz="1400">
              <a:solidFill>
                <a:schemeClr val="dk1"/>
              </a:solidFill>
            </a:endParaRPr>
          </a:p>
          <a:p>
            <a:pPr indent="0" lvl="0" marL="457200" rtl="0" algn="l">
              <a:spcBef>
                <a:spcPts val="1200"/>
              </a:spcBef>
              <a:spcAft>
                <a:spcPts val="0"/>
              </a:spcAft>
              <a:buNone/>
            </a:pPr>
            <a:r>
              <a:rPr lang="id" sz="1400">
                <a:solidFill>
                  <a:schemeClr val="dk1"/>
                </a:solidFill>
              </a:rPr>
              <a:t>Tidak ada kursus gratis yang tersedia di platform Codepolitan.</a:t>
            </a:r>
            <a:endParaRPr sz="1400">
              <a:solidFill>
                <a:schemeClr val="dk1"/>
              </a:solidFill>
            </a:endParaRPr>
          </a:p>
          <a:p>
            <a:pPr indent="-317500" lvl="0" marL="457200" rtl="0" algn="l">
              <a:spcBef>
                <a:spcPts val="1200"/>
              </a:spcBef>
              <a:spcAft>
                <a:spcPts val="0"/>
              </a:spcAft>
              <a:buClr>
                <a:schemeClr val="dk1"/>
              </a:buClr>
              <a:buSzPts val="1400"/>
              <a:buAutoNum type="arabicPeriod"/>
            </a:pPr>
            <a:r>
              <a:rPr b="1" lang="id" sz="1400">
                <a:solidFill>
                  <a:schemeClr val="dk1"/>
                </a:solidFill>
              </a:rPr>
              <a:t>Kursus online apa yang mendapatkan lebih dari 500 ulasan?</a:t>
            </a:r>
            <a:endParaRPr b="1" sz="1400">
              <a:solidFill>
                <a:schemeClr val="dk1"/>
              </a:solidFill>
            </a:endParaRPr>
          </a:p>
          <a:p>
            <a:pPr indent="0" lvl="0" marL="457200" rtl="0" algn="l">
              <a:spcBef>
                <a:spcPts val="1200"/>
              </a:spcBef>
              <a:spcAft>
                <a:spcPts val="0"/>
              </a:spcAft>
              <a:buNone/>
            </a:pPr>
            <a:r>
              <a:rPr lang="id" sz="1400">
                <a:solidFill>
                  <a:schemeClr val="dk1"/>
                </a:solidFill>
              </a:rPr>
              <a:t>Kursus dengan judul ‘Belajar Dasar HTML’ mendapatkan ulasan terbanyak, diikuti dengan kursus ‘Belajar Dasar CSS’ dan ‘Belajar Pemrograman PHP’.</a:t>
            </a:r>
            <a:endParaRPr sz="1500">
              <a:solidFill>
                <a:schemeClr val="dk1"/>
              </a:solidFill>
            </a:endParaRPr>
          </a:p>
          <a:p>
            <a:pPr indent="-317500" lvl="0" marL="457200" rtl="0" algn="l">
              <a:spcBef>
                <a:spcPts val="1200"/>
              </a:spcBef>
              <a:spcAft>
                <a:spcPts val="0"/>
              </a:spcAft>
              <a:buClr>
                <a:schemeClr val="dk1"/>
              </a:buClr>
              <a:buSzPts val="1400"/>
              <a:buAutoNum type="arabicPeriod"/>
            </a:pPr>
            <a:r>
              <a:rPr b="1" lang="id" sz="1400">
                <a:solidFill>
                  <a:schemeClr val="dk1"/>
                </a:solidFill>
              </a:rPr>
              <a:t>Berapa level yang tersedia pada kursus?</a:t>
            </a:r>
            <a:endParaRPr b="1" sz="1400">
              <a:solidFill>
                <a:schemeClr val="dk1"/>
              </a:solidFill>
            </a:endParaRPr>
          </a:p>
          <a:p>
            <a:pPr indent="0" lvl="0" marL="0" rtl="0" algn="l">
              <a:spcBef>
                <a:spcPts val="1200"/>
              </a:spcBef>
              <a:spcAft>
                <a:spcPts val="1200"/>
              </a:spcAft>
              <a:buNone/>
            </a:pPr>
            <a:r>
              <a:rPr lang="id"/>
              <a:t>	</a:t>
            </a:r>
            <a:r>
              <a:rPr lang="id" sz="1400">
                <a:solidFill>
                  <a:schemeClr val="dk1"/>
                </a:solidFill>
              </a:rPr>
              <a:t>2 level, yaitu Level Beginner dan Level Intermediate.</a:t>
            </a:r>
            <a:endParaRPr sz="14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0"/>
          <p:cNvSpPr txBox="1"/>
          <p:nvPr>
            <p:ph idx="1" type="body"/>
          </p:nvPr>
        </p:nvSpPr>
        <p:spPr>
          <a:xfrm>
            <a:off x="165300" y="123975"/>
            <a:ext cx="8829900" cy="47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AutoNum type="arabicPeriod" startAt="6"/>
            </a:pPr>
            <a:r>
              <a:rPr b="1" lang="id" sz="1400">
                <a:solidFill>
                  <a:schemeClr val="dk1"/>
                </a:solidFill>
              </a:rPr>
              <a:t>Bagaimana distribusi level yang ada pada kursus?</a:t>
            </a:r>
            <a:endParaRPr b="1" sz="1400">
              <a:solidFill>
                <a:schemeClr val="dk1"/>
              </a:solidFill>
            </a:endParaRPr>
          </a:p>
          <a:p>
            <a:pPr indent="0" lvl="0" marL="457200" rtl="0" algn="l">
              <a:spcBef>
                <a:spcPts val="1200"/>
              </a:spcBef>
              <a:spcAft>
                <a:spcPts val="0"/>
              </a:spcAft>
              <a:buNone/>
            </a:pPr>
            <a:r>
              <a:rPr lang="id" sz="1400">
                <a:solidFill>
                  <a:schemeClr val="dk1"/>
                </a:solidFill>
              </a:rPr>
              <a:t>Level Beginner terdapat 180 kursus, sedangkan Level Intermediate terdapat 70 kursus.</a:t>
            </a:r>
            <a:endParaRPr sz="1400">
              <a:solidFill>
                <a:schemeClr val="dk1"/>
              </a:solidFill>
            </a:endParaRPr>
          </a:p>
          <a:p>
            <a:pPr indent="-317500" lvl="0" marL="457200" rtl="0" algn="l">
              <a:spcBef>
                <a:spcPts val="1200"/>
              </a:spcBef>
              <a:spcAft>
                <a:spcPts val="0"/>
              </a:spcAft>
              <a:buClr>
                <a:schemeClr val="dk1"/>
              </a:buClr>
              <a:buSzPts val="1400"/>
              <a:buAutoNum type="arabicPeriod" startAt="6"/>
            </a:pPr>
            <a:r>
              <a:rPr b="1" lang="id" sz="1400">
                <a:solidFill>
                  <a:schemeClr val="dk1"/>
                </a:solidFill>
              </a:rPr>
              <a:t>Bagaimana distribusi rating kursus lebih dari 4.5?</a:t>
            </a:r>
            <a:endParaRPr b="1" sz="1400">
              <a:solidFill>
                <a:schemeClr val="dk1"/>
              </a:solidFill>
            </a:endParaRPr>
          </a:p>
          <a:p>
            <a:pPr indent="0" lvl="0" marL="457200" rtl="0" algn="l">
              <a:spcBef>
                <a:spcPts val="1200"/>
              </a:spcBef>
              <a:spcAft>
                <a:spcPts val="0"/>
              </a:spcAft>
              <a:buNone/>
            </a:pPr>
            <a:r>
              <a:rPr lang="id" sz="1400">
                <a:solidFill>
                  <a:schemeClr val="dk1"/>
                </a:solidFill>
              </a:rPr>
              <a:t>Cenderung meningkat, pada rating 4.8 terdapat konsentrasi yang cukup tinggi yang mengidentifikasikan bahwa siswa cukup puas dengan kursus yang ada.</a:t>
            </a:r>
            <a:endParaRPr sz="1400">
              <a:solidFill>
                <a:schemeClr val="dk1"/>
              </a:solidFill>
            </a:endParaRPr>
          </a:p>
          <a:p>
            <a:pPr indent="-317500" lvl="0" marL="457200" rtl="0" algn="l">
              <a:spcBef>
                <a:spcPts val="1200"/>
              </a:spcBef>
              <a:spcAft>
                <a:spcPts val="0"/>
              </a:spcAft>
              <a:buClr>
                <a:schemeClr val="dk1"/>
              </a:buClr>
              <a:buSzPts val="1400"/>
              <a:buAutoNum type="arabicPeriod" startAt="6"/>
            </a:pPr>
            <a:r>
              <a:rPr b="1" lang="id" sz="1400">
                <a:solidFill>
                  <a:schemeClr val="dk1"/>
                </a:solidFill>
              </a:rPr>
              <a:t>Bagaimana hubungan antara harga dengan rating?</a:t>
            </a:r>
            <a:endParaRPr b="1" sz="1400">
              <a:solidFill>
                <a:schemeClr val="dk1"/>
              </a:solidFill>
            </a:endParaRPr>
          </a:p>
          <a:p>
            <a:pPr indent="0" lvl="0" marL="457200" rtl="0" algn="l">
              <a:spcBef>
                <a:spcPts val="1200"/>
              </a:spcBef>
              <a:spcAft>
                <a:spcPts val="0"/>
              </a:spcAft>
              <a:buNone/>
            </a:pPr>
            <a:r>
              <a:rPr lang="id" sz="1400">
                <a:solidFill>
                  <a:schemeClr val="dk1"/>
                </a:solidFill>
              </a:rPr>
              <a:t>Adanya korelasi negatif antara harga dan rating. Artinya, semakin tinggi harga suatu kursus, cenderung semakin rendah ratingnya. Namun, korelasi ini tidak terlalu kuat, terutama untuk level intermediate.</a:t>
            </a:r>
            <a:endParaRPr sz="1400">
              <a:solidFill>
                <a:schemeClr val="dk1"/>
              </a:solidFill>
            </a:endParaRPr>
          </a:p>
          <a:p>
            <a:pPr indent="-317500" lvl="0" marL="457200" rtl="0" algn="l">
              <a:spcBef>
                <a:spcPts val="1200"/>
              </a:spcBef>
              <a:spcAft>
                <a:spcPts val="0"/>
              </a:spcAft>
              <a:buClr>
                <a:schemeClr val="dk1"/>
              </a:buClr>
              <a:buSzPts val="1400"/>
              <a:buAutoNum type="arabicPeriod" startAt="6"/>
            </a:pPr>
            <a:r>
              <a:rPr b="1" lang="id" sz="1400">
                <a:solidFill>
                  <a:schemeClr val="dk1"/>
                </a:solidFill>
              </a:rPr>
              <a:t>Bagaimana hubungan antara harga dengan jumlah peserta?</a:t>
            </a:r>
            <a:endParaRPr b="1" sz="1400">
              <a:solidFill>
                <a:schemeClr val="dk1"/>
              </a:solidFill>
            </a:endParaRPr>
          </a:p>
          <a:p>
            <a:pPr indent="0" lvl="0" marL="457200" rtl="0" algn="l">
              <a:lnSpc>
                <a:spcPct val="95000"/>
              </a:lnSpc>
              <a:spcBef>
                <a:spcPts val="1200"/>
              </a:spcBef>
              <a:spcAft>
                <a:spcPts val="0"/>
              </a:spcAft>
              <a:buNone/>
            </a:pPr>
            <a:r>
              <a:rPr lang="id" sz="1400">
                <a:solidFill>
                  <a:schemeClr val="dk1"/>
                </a:solidFill>
              </a:rPr>
              <a:t>Adanya korelasi negatif antara harga dan jumlah siswa. Artinya, semakin tinggi harga suatu kursus, cenderung semakin sedikit jumlah siswa yang mendaftar.</a:t>
            </a:r>
            <a:endParaRPr sz="1400">
              <a:solidFill>
                <a:schemeClr val="dk1"/>
              </a:solidFill>
            </a:endParaRPr>
          </a:p>
          <a:p>
            <a:pPr indent="-317500" lvl="0" marL="457200" rtl="0" algn="l">
              <a:spcBef>
                <a:spcPts val="1200"/>
              </a:spcBef>
              <a:spcAft>
                <a:spcPts val="0"/>
              </a:spcAft>
              <a:buClr>
                <a:schemeClr val="dk1"/>
              </a:buClr>
              <a:buSzPts val="1400"/>
              <a:buAutoNum type="arabicPeriod" startAt="6"/>
            </a:pPr>
            <a:r>
              <a:rPr b="1" lang="id" sz="1400">
                <a:solidFill>
                  <a:schemeClr val="dk1"/>
                </a:solidFill>
              </a:rPr>
              <a:t>Bagaimana hubungan antara rating dengan jumlah peserta ?</a:t>
            </a:r>
            <a:endParaRPr b="1" sz="1400">
              <a:solidFill>
                <a:schemeClr val="dk1"/>
              </a:solidFill>
            </a:endParaRPr>
          </a:p>
          <a:p>
            <a:pPr indent="0" lvl="0" marL="457200" rtl="0" algn="l">
              <a:lnSpc>
                <a:spcPct val="105000"/>
              </a:lnSpc>
              <a:spcBef>
                <a:spcPts val="1200"/>
              </a:spcBef>
              <a:spcAft>
                <a:spcPts val="1200"/>
              </a:spcAft>
              <a:buNone/>
            </a:pPr>
            <a:r>
              <a:rPr lang="id" sz="1400">
                <a:solidFill>
                  <a:schemeClr val="dk1"/>
                </a:solidFill>
              </a:rPr>
              <a:t>Adanya korelasi yang sangat lemah antara rating dan jumlah siswa. Artinya, perubahan pada rating kursus tidak memberikan pengaruh yang signifikan terhadap jumlah siswa yang mendaftar.</a:t>
            </a:r>
            <a:endParaRPr sz="14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1"/>
          <p:cNvSpPr txBox="1"/>
          <p:nvPr>
            <p:ph type="title"/>
          </p:nvPr>
        </p:nvSpPr>
        <p:spPr>
          <a:xfrm>
            <a:off x="78300" y="2285400"/>
            <a:ext cx="8938500" cy="93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KESIMPULAN DAN SARAN UNTUK PENGEMBANGAN BISNIS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2"/>
          <p:cNvSpPr txBox="1"/>
          <p:nvPr>
            <p:ph idx="1" type="body"/>
          </p:nvPr>
        </p:nvSpPr>
        <p:spPr>
          <a:xfrm>
            <a:off x="165300" y="123975"/>
            <a:ext cx="8873400" cy="4958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id" sz="1400">
                <a:solidFill>
                  <a:schemeClr val="dk1"/>
                </a:solidFill>
              </a:rPr>
              <a:t>Kesimpulan</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Kursus yang paling diminati oleh siswa adalah ‘</a:t>
            </a:r>
            <a:r>
              <a:rPr b="1" lang="id" sz="1400">
                <a:solidFill>
                  <a:schemeClr val="dk1"/>
                </a:solidFill>
              </a:rPr>
              <a:t>Belajar Pemrogaman PHP’</a:t>
            </a:r>
            <a:r>
              <a:rPr lang="id" sz="1400">
                <a:solidFill>
                  <a:schemeClr val="dk1"/>
                </a:solidFill>
              </a:rPr>
              <a:t> dengan 5991 peserta.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Kursus ‘</a:t>
            </a:r>
            <a:r>
              <a:rPr b="1" lang="id" sz="1400">
                <a:solidFill>
                  <a:schemeClr val="dk1"/>
                </a:solidFill>
              </a:rPr>
              <a:t>Belajar Dasar HTML’ </a:t>
            </a:r>
            <a:r>
              <a:rPr lang="id" sz="1400">
                <a:solidFill>
                  <a:schemeClr val="dk1"/>
                </a:solidFill>
              </a:rPr>
              <a:t>mendapatkan ulasan terbanyak dengan 2151 ulasan.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Jumlah kursus yang tersedia terdapat 250 kursus berbayar menunjukkan bahwa model bisnis dari Codepolitan lebih fokus pada segmen pasar yang bersedia membayar untuk mendapatkan akses ke konten berkualitas.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Terdapat 180 kursus dengan Level Beginner dan 70 kursus dengan Level </a:t>
            </a:r>
            <a:r>
              <a:rPr lang="id" sz="1400">
                <a:solidFill>
                  <a:schemeClr val="dk1"/>
                </a:solidFill>
              </a:rPr>
              <a:t>Intermediate.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Harga kursus memiliki pengaruh yang cukup signifikan terhadap jumlah peserta. Semakin tinggi harga, cenderung semakin sedikit siswa yang mendaftar. Namun, perlu diingat bahwa ini adalah hubungan umum dan faktor lain juga dapat mempengaruhi jumlah peserta.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Harga memiliki pengaruh terhadap rating kursus, terutama untuk kursus level beginner.</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Harga memiliki pengaruh terhadap jumlah peserta yang mendaftar. Semakin tinggi harga, cenderung semakin sedikit siswa yang mendaftar.</a:t>
            </a:r>
            <a:endParaRPr sz="1400">
              <a:solidFill>
                <a:schemeClr val="dk1"/>
              </a:solidFill>
            </a:endParaRPr>
          </a:p>
          <a:p>
            <a:pPr indent="-336550" lvl="0" marL="457200" rtl="0" algn="l">
              <a:spcBef>
                <a:spcPts val="0"/>
              </a:spcBef>
              <a:spcAft>
                <a:spcPts val="0"/>
              </a:spcAft>
              <a:buClr>
                <a:schemeClr val="dk1"/>
              </a:buClr>
              <a:buSzPts val="1700"/>
              <a:buAutoNum type="arabicPeriod"/>
            </a:pPr>
            <a:r>
              <a:rPr lang="id" sz="1400">
                <a:solidFill>
                  <a:schemeClr val="dk1"/>
                </a:solidFill>
              </a:rPr>
              <a:t>Jumlah </a:t>
            </a:r>
            <a:r>
              <a:rPr i="1" lang="id" sz="1400">
                <a:solidFill>
                  <a:schemeClr val="dk1"/>
                </a:solidFill>
              </a:rPr>
              <a:t>feedback</a:t>
            </a:r>
            <a:r>
              <a:rPr lang="id" sz="1400">
                <a:solidFill>
                  <a:schemeClr val="dk1"/>
                </a:solidFill>
              </a:rPr>
              <a:t> dapat menjadi indikator mengenai kualitas dan relevansi kursus. Kursus dengan banyak </a:t>
            </a:r>
            <a:r>
              <a:rPr i="1" lang="id" sz="1400">
                <a:solidFill>
                  <a:schemeClr val="dk1"/>
                </a:solidFill>
              </a:rPr>
              <a:t>feedback</a:t>
            </a:r>
            <a:r>
              <a:rPr lang="id" sz="1400">
                <a:solidFill>
                  <a:schemeClr val="dk1"/>
                </a:solidFill>
              </a:rPr>
              <a:t> positif memiliki materi yang lebih baik  atau topik yang lebih relevan dengan kebutuhan siswa.</a:t>
            </a:r>
            <a:endParaRPr sz="17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Kualitas kursus yang ditawarkan cukup baik, dilihat dari rating rata-rata sebesar 4.8. Ini merupakan indikator positif bagi Codepolitan untuk meningkatkan kualitas kursusnya.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Tidak ada hubungan yang kuat antara rating kursus dan jumlah siswa yang mendaftar, baik untuk level beginner maupun intermediate.</a:t>
            </a:r>
            <a:endParaRPr sz="14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3"/>
          <p:cNvSpPr txBox="1"/>
          <p:nvPr>
            <p:ph idx="1" type="body"/>
          </p:nvPr>
        </p:nvSpPr>
        <p:spPr>
          <a:xfrm>
            <a:off x="311700" y="264100"/>
            <a:ext cx="8520600" cy="430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id" sz="1400">
                <a:solidFill>
                  <a:schemeClr val="dk1"/>
                </a:solidFill>
              </a:rPr>
              <a:t>Saran Untuk Pengembangan Bisnis Kursus Online pada Platform Codepolitan</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id" sz="1400">
                <a:solidFill>
                  <a:schemeClr val="dk1"/>
                </a:solidFill>
              </a:rPr>
              <a:t>Platform Codepolitan dapat mempertimbangkan untuk menawarkan beberapa kursus gratis sebagai strategi pemasaran atau untuk menarik pengguna baru.</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Menambahkan level lanjutan, seperti Level Advance, yang dapat menunjukkan bahwa materi kursus berjenjang. Dengan memberikan level berjenjang pada setiap kursus dapat memberikan daya tarik tersendiri kepada pelanggan.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Codepolitan perlu menyeimbangkan antara kualitas kursus dan harga. Kursus dengan kualitas yang baik dan harga yang kompetitif cenderung lebih menarik minat peserta.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Codepolitan dapat mempromosikan kursus yang memiliki banyak </a:t>
            </a:r>
            <a:r>
              <a:rPr i="1" lang="id" sz="1400">
                <a:solidFill>
                  <a:schemeClr val="dk1"/>
                </a:solidFill>
              </a:rPr>
              <a:t>feedback</a:t>
            </a:r>
            <a:r>
              <a:rPr lang="id" sz="1400">
                <a:solidFill>
                  <a:schemeClr val="dk1"/>
                </a:solidFill>
              </a:rPr>
              <a:t> positif dan memberikan penawaran khusus untuk kursus yang memiliki sedikit </a:t>
            </a:r>
            <a:r>
              <a:rPr i="1" lang="id" sz="1400">
                <a:solidFill>
                  <a:schemeClr val="dk1"/>
                </a:solidFill>
              </a:rPr>
              <a:t>feedback</a:t>
            </a:r>
            <a:r>
              <a:rPr lang="id" sz="1400">
                <a:solidFill>
                  <a:schemeClr val="dk1"/>
                </a:solidFill>
              </a:rPr>
              <a: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Codepolitan perlu mempertimbangkan dalam menetapkan harga kursus, terutama untuk kursus level beginner. Harga yang terlalu tinggi dapat mengurangi rating kursus dan jumlah peserta.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id" sz="1400">
                <a:solidFill>
                  <a:schemeClr val="dk1"/>
                </a:solidFill>
              </a:rPr>
              <a:t>Meskipun rating tidak memiliki pengaruh yang signifikan terhadap jumlah peserta secara langsung, meningkatkan kualitas kursus tetap penting untuk menjaga reputasi dan kepuasan peserta.</a:t>
            </a:r>
            <a:endParaRPr sz="14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4"/>
          <p:cNvSpPr txBox="1"/>
          <p:nvPr>
            <p:ph type="title"/>
          </p:nvPr>
        </p:nvSpPr>
        <p:spPr>
          <a:xfrm>
            <a:off x="376950" y="228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TERIMA KASIH</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